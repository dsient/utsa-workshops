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5143500" cx="9144000"/>
  <p:notesSz cx="6858000" cy="9144000"/>
  <p:embeddedFontLst>
    <p:embeddedFont>
      <p:font typeface="Roboto"/>
      <p:regular r:id="rId26"/>
      <p:bold r:id="rId27"/>
      <p:italic r:id="rId28"/>
      <p:boldItalic r:id="rId29"/>
    </p:embeddedFont>
    <p:embeddedFont>
      <p:font typeface="Exo 2 Medium"/>
      <p:regular r:id="rId30"/>
      <p:bold r:id="rId31"/>
      <p:italic r:id="rId32"/>
      <p:boldItalic r:id="rId33"/>
    </p:embeddedFont>
    <p:embeddedFont>
      <p:font typeface="Exo 2"/>
      <p:regular r:id="rId34"/>
      <p:bold r:id="rId35"/>
      <p:italic r:id="rId36"/>
      <p:boldItalic r:id="rId37"/>
    </p:embeddedFont>
    <p:embeddedFont>
      <p:font typeface="Roboto Mono"/>
      <p:regular r:id="rId38"/>
      <p:bold r:id="rId39"/>
      <p:italic r:id="rId40"/>
      <p:boldItalic r:id="rId41"/>
    </p:embeddedFont>
    <p:embeddedFont>
      <p:font typeface="Archivo Black"/>
      <p:regular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03D29D6-77DA-4D2D-AF9F-9845865E27CD}">
  <a:tblStyle styleId="{703D29D6-77DA-4D2D-AF9F-9845865E27CD}"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italic.fntdata"/><Relationship Id="rId20" Type="http://schemas.openxmlformats.org/officeDocument/2006/relationships/slide" Target="slides/slide14.xml"/><Relationship Id="rId42" Type="http://schemas.openxmlformats.org/officeDocument/2006/relationships/font" Target="fonts/ArchivoBlack-regular.fntdata"/><Relationship Id="rId41" Type="http://schemas.openxmlformats.org/officeDocument/2006/relationships/font" Target="fonts/RobotoMono-bold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regular.fntdata"/><Relationship Id="rId25" Type="http://schemas.openxmlformats.org/officeDocument/2006/relationships/slide" Target="slides/slide19.xml"/><Relationship Id="rId28" Type="http://schemas.openxmlformats.org/officeDocument/2006/relationships/font" Target="fonts/Roboto-italic.fntdata"/><Relationship Id="rId27" Type="http://schemas.openxmlformats.org/officeDocument/2006/relationships/font" Target="fonts/Robot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Exo2Medium-bold.fntdata"/><Relationship Id="rId30" Type="http://schemas.openxmlformats.org/officeDocument/2006/relationships/font" Target="fonts/Exo2Medium-regular.fntdata"/><Relationship Id="rId11" Type="http://schemas.openxmlformats.org/officeDocument/2006/relationships/slide" Target="slides/slide5.xml"/><Relationship Id="rId33" Type="http://schemas.openxmlformats.org/officeDocument/2006/relationships/font" Target="fonts/Exo2Medium-boldItalic.fntdata"/><Relationship Id="rId10" Type="http://schemas.openxmlformats.org/officeDocument/2006/relationships/slide" Target="slides/slide4.xml"/><Relationship Id="rId32" Type="http://schemas.openxmlformats.org/officeDocument/2006/relationships/font" Target="fonts/Exo2Medium-italic.fntdata"/><Relationship Id="rId13" Type="http://schemas.openxmlformats.org/officeDocument/2006/relationships/slide" Target="slides/slide7.xml"/><Relationship Id="rId35" Type="http://schemas.openxmlformats.org/officeDocument/2006/relationships/font" Target="fonts/Exo2-bold.fntdata"/><Relationship Id="rId12" Type="http://schemas.openxmlformats.org/officeDocument/2006/relationships/slide" Target="slides/slide6.xml"/><Relationship Id="rId34" Type="http://schemas.openxmlformats.org/officeDocument/2006/relationships/font" Target="fonts/Exo2-regular.fntdata"/><Relationship Id="rId15" Type="http://schemas.openxmlformats.org/officeDocument/2006/relationships/slide" Target="slides/slide9.xml"/><Relationship Id="rId37" Type="http://schemas.openxmlformats.org/officeDocument/2006/relationships/font" Target="fonts/Exo2-boldItalic.fntdata"/><Relationship Id="rId14" Type="http://schemas.openxmlformats.org/officeDocument/2006/relationships/slide" Target="slides/slide8.xml"/><Relationship Id="rId36" Type="http://schemas.openxmlformats.org/officeDocument/2006/relationships/font" Target="fonts/Exo2-italic.fntdata"/><Relationship Id="rId17" Type="http://schemas.openxmlformats.org/officeDocument/2006/relationships/slide" Target="slides/slide11.xml"/><Relationship Id="rId39" Type="http://schemas.openxmlformats.org/officeDocument/2006/relationships/font" Target="fonts/RobotoMono-bold.fntdata"/><Relationship Id="rId16" Type="http://schemas.openxmlformats.org/officeDocument/2006/relationships/slide" Target="slides/slide10.xml"/><Relationship Id="rId38" Type="http://schemas.openxmlformats.org/officeDocument/2006/relationships/font" Target="fonts/RobotoMono-regular.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h57c0e1b2eec8372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h57c0e1b2eec8372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Today we’ll go from zero to a running Docker container. By the end you’ll understand why Docker exists, how to use it from the command line, and you’ll build a custom image for a Markdown note-taking app that you can extend for your own projects.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h360a374bfac78769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h360a374bfac78769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many of you have had code work on your laptop but fail on a friend’s machine or on a lab computer? Docker was created to solve exactly that. Before containers, the main alternative was virtual machines—but VMs duplicate an entire operating system, which is slow and resource-heavy.</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h360a374bfac78769_1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h360a374bfac78769_1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Docker packages your application together with everything it needs—libraries, runtime, configuration—into a single portable unit called a container. The official docs describe it as ‘an open platform for developing, shipping, and running applications’ that lets you separate your application from your infrastructure. The core promise is: build it once, and it runs the same everywhere.</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h360a374bfac78769_1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h360a374bfac78769_1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 container is a </a:t>
            </a:r>
            <a:r>
              <a:rPr i="1" lang="en">
                <a:solidFill>
                  <a:schemeClr val="dk1"/>
                </a:solidFill>
              </a:rPr>
              <a:t>runnable instance of an image</a:t>
            </a:r>
            <a:r>
              <a:rPr lang="en">
                <a:solidFill>
                  <a:schemeClr val="dk1"/>
                </a:solidFill>
              </a:rPr>
              <a:t>—think of the image as a recipe and the container as the cake you bake from it. Containers are isolated from each other, but they share the host’s OS kernel, which is why they start in seconds and use far less memory than a VM.</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h360a374bfac78769_1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h360a374bfac78769_1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An image is a read-only template used to create containers. A Dockerfile is the recipe you write to build that image. When you run an image, you get a container. You can start, stop, move, or delete containers without affecting the image.</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h360a374bfac78769_1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h360a374bfac78769_1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Docker shows up everywhere in modern software. Teams use it so every developer has the same environment. CI/CD pipelines build and test the same container that eventually runs in production. For this workshop, notice the education use case: everyone in this room can have exactly the same environment regardless of whether you’re on Windows, Mac, or Linux.</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h360a374bfac78769_1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h360a374bfac78769_1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Docker uses a client–server architecture. The </a:t>
            </a:r>
            <a:r>
              <a:rPr lang="en">
                <a:solidFill>
                  <a:srgbClr val="188038"/>
                </a:solidFill>
                <a:latin typeface="Roboto Mono"/>
                <a:ea typeface="Roboto Mono"/>
                <a:cs typeface="Roboto Mono"/>
                <a:sym typeface="Roboto Mono"/>
              </a:rPr>
              <a:t>docker</a:t>
            </a:r>
            <a:r>
              <a:rPr lang="en">
                <a:solidFill>
                  <a:schemeClr val="dk1"/>
                </a:solidFill>
              </a:rPr>
              <a:t> command you type is the client; it talks to the Docker daemon, which actually builds and runs containers. On Windows and Mac, Docker Desktop gives you the daemon, CLI, and Compose in one installer.</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h360a374bfac78769_1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h360a374bfac78769_1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You don’t need to memorise all of these today—you’ll use about six of them in the demo. The official CLI cheat sheet is a great reference to bookmark. The key mental model: </a:t>
            </a:r>
            <a:r>
              <a:rPr lang="en">
                <a:solidFill>
                  <a:srgbClr val="188038"/>
                </a:solidFill>
                <a:latin typeface="Roboto Mono"/>
                <a:ea typeface="Roboto Mono"/>
                <a:cs typeface="Roboto Mono"/>
                <a:sym typeface="Roboto Mono"/>
              </a:rPr>
              <a:t>docker run</a:t>
            </a:r>
            <a:r>
              <a:rPr lang="en">
                <a:solidFill>
                  <a:schemeClr val="dk1"/>
                </a:solidFill>
              </a:rPr>
              <a:t> creates a container from an image, and </a:t>
            </a:r>
            <a:r>
              <a:rPr lang="en">
                <a:solidFill>
                  <a:srgbClr val="188038"/>
                </a:solidFill>
                <a:latin typeface="Roboto Mono"/>
                <a:ea typeface="Roboto Mono"/>
                <a:cs typeface="Roboto Mono"/>
                <a:sym typeface="Roboto Mono"/>
              </a:rPr>
              <a:t>docker ps</a:t>
            </a:r>
            <a:r>
              <a:rPr lang="en">
                <a:solidFill>
                  <a:schemeClr val="dk1"/>
                </a:solidFill>
              </a:rPr>
              <a:t> shows you what’s running.</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h360a374bfac78769_1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h360a374bfac78769_1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88038"/>
                </a:solidFill>
                <a:latin typeface="Roboto Mono"/>
                <a:ea typeface="Roboto Mono"/>
                <a:cs typeface="Roboto Mono"/>
                <a:sym typeface="Roboto Mono"/>
              </a:rPr>
              <a:t>-d</a:t>
            </a:r>
            <a:r>
              <a:rPr lang="en">
                <a:solidFill>
                  <a:schemeClr val="dk1"/>
                </a:solidFill>
              </a:rPr>
              <a:t> detaches the container so your terminal isn’t blocked. </a:t>
            </a:r>
            <a:r>
              <a:rPr lang="en">
                <a:solidFill>
                  <a:srgbClr val="188038"/>
                </a:solidFill>
                <a:latin typeface="Roboto Mono"/>
                <a:ea typeface="Roboto Mono"/>
                <a:cs typeface="Roboto Mono"/>
                <a:sym typeface="Roboto Mono"/>
              </a:rPr>
              <a:t>-p 8080:80</a:t>
            </a:r>
            <a:r>
              <a:rPr lang="en">
                <a:solidFill>
                  <a:schemeClr val="dk1"/>
                </a:solidFill>
              </a:rPr>
              <a:t> maps port 8080 on your machine to port 80 inside the container. </a:t>
            </a:r>
            <a:r>
              <a:rPr lang="en">
                <a:solidFill>
                  <a:srgbClr val="188038"/>
                </a:solidFill>
                <a:latin typeface="Roboto Mono"/>
                <a:ea typeface="Roboto Mono"/>
                <a:cs typeface="Roboto Mono"/>
                <a:sym typeface="Roboto Mono"/>
              </a:rPr>
              <a:t>-v</a:t>
            </a:r>
            <a:r>
              <a:rPr lang="en">
                <a:solidFill>
                  <a:schemeClr val="dk1"/>
                </a:solidFill>
              </a:rPr>
              <a:t> is how you’ll persist your Markdown notes later. With a named volume like </a:t>
            </a:r>
            <a:r>
              <a:rPr lang="en">
                <a:solidFill>
                  <a:srgbClr val="188038"/>
                </a:solidFill>
                <a:latin typeface="Roboto Mono"/>
                <a:ea typeface="Roboto Mono"/>
                <a:cs typeface="Roboto Mono"/>
                <a:sym typeface="Roboto Mono"/>
              </a:rPr>
              <a:t>vault_data</a:t>
            </a:r>
            <a:r>
              <a:rPr lang="en">
                <a:solidFill>
                  <a:schemeClr val="dk1"/>
                </a:solidFill>
              </a:rPr>
              <a:t>, Docker manages the storage location for you. The volume is created on first run, initialized from whatever the image contains at </a:t>
            </a:r>
            <a:r>
              <a:rPr lang="en">
                <a:solidFill>
                  <a:srgbClr val="188038"/>
                </a:solidFill>
                <a:latin typeface="Roboto Mono"/>
                <a:ea typeface="Roboto Mono"/>
                <a:cs typeface="Roboto Mono"/>
                <a:sym typeface="Roboto Mono"/>
              </a:rPr>
              <a:t>/app/notes</a:t>
            </a:r>
            <a:r>
              <a:rPr lang="en">
                <a:solidFill>
                  <a:schemeClr val="dk1"/>
                </a:solidFill>
              </a:rPr>
              <a:t>, and it survives even if the container is deleted. We’ll see that in the demo.</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h360a374bfac78769_1_1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h360a374bfac78769_1_1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Dockerfiles are surprisingly simple. You start from a base image—for Python apps, a </a:t>
            </a:r>
            <a:r>
              <a:rPr lang="en">
                <a:solidFill>
                  <a:srgbClr val="188038"/>
                </a:solidFill>
                <a:latin typeface="Roboto Mono"/>
                <a:ea typeface="Roboto Mono"/>
                <a:cs typeface="Roboto Mono"/>
                <a:sym typeface="Roboto Mono"/>
              </a:rPr>
              <a:t>slim</a:t>
            </a:r>
            <a:r>
              <a:rPr lang="en">
                <a:solidFill>
                  <a:schemeClr val="dk1"/>
                </a:solidFill>
              </a:rPr>
              <a:t> variant is usually the best balance of size and compatibility. Then you copy your code in, install dependencies, and tell Docker what command to run. Layers are cached, so if you only change your app code, Docker doesn’t reinstall everything from scratch.</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h360a374bfac78769_1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h360a374bfac78769_1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This is the exact Dockerfile we’ll build in the demo. </a:t>
            </a:r>
            <a:r>
              <a:rPr lang="en">
                <a:solidFill>
                  <a:srgbClr val="188038"/>
                </a:solidFill>
                <a:latin typeface="Roboto Mono"/>
                <a:ea typeface="Roboto Mono"/>
                <a:cs typeface="Roboto Mono"/>
                <a:sym typeface="Roboto Mono"/>
              </a:rPr>
              <a:t>python:3.12-slim</a:t>
            </a:r>
            <a:r>
              <a:rPr lang="en">
                <a:solidFill>
                  <a:schemeClr val="dk1"/>
                </a:solidFill>
              </a:rPr>
              <a:t> is a Debian-based image that’s much smaller than the full Python image but still works with most Python packages. We copy </a:t>
            </a:r>
            <a:r>
              <a:rPr lang="en">
                <a:solidFill>
                  <a:srgbClr val="188038"/>
                </a:solidFill>
                <a:latin typeface="Roboto Mono"/>
                <a:ea typeface="Roboto Mono"/>
                <a:cs typeface="Roboto Mono"/>
                <a:sym typeface="Roboto Mono"/>
              </a:rPr>
              <a:t>requirements.txt</a:t>
            </a:r>
            <a:r>
              <a:rPr lang="en">
                <a:solidFill>
                  <a:schemeClr val="dk1"/>
                </a:solidFill>
              </a:rPr>
              <a:t> first so Docker can cache the dependency installation—if you only change your app code later, the rebuild is almost instant. We create </a:t>
            </a:r>
            <a:r>
              <a:rPr lang="en">
                <a:solidFill>
                  <a:srgbClr val="188038"/>
                </a:solidFill>
                <a:latin typeface="Roboto Mono"/>
                <a:ea typeface="Roboto Mono"/>
                <a:cs typeface="Roboto Mono"/>
                <a:sym typeface="Roboto Mono"/>
              </a:rPr>
              <a:t>/app/notes</a:t>
            </a:r>
            <a:r>
              <a:rPr lang="en">
                <a:solidFill>
                  <a:schemeClr val="dk1"/>
                </a:solidFill>
              </a:rPr>
              <a:t> inside the image so the named volume has an initial seed (a welcome note). The </a:t>
            </a:r>
            <a:r>
              <a:rPr lang="en">
                <a:solidFill>
                  <a:srgbClr val="188038"/>
                </a:solidFill>
                <a:latin typeface="Roboto Mono"/>
                <a:ea typeface="Roboto Mono"/>
                <a:cs typeface="Roboto Mono"/>
                <a:sym typeface="Roboto Mono"/>
              </a:rPr>
              <a:t>CMD</a:t>
            </a:r>
            <a:r>
              <a:rPr lang="en">
                <a:solidFill>
                  <a:schemeClr val="dk1"/>
                </a:solidFill>
              </a:rPr>
              <a:t> runs the Shiny Express server.</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h360a374bfac78769_1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h360a374bfac78769_1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Compose is a tool for defining and running multi-container applications using a YAML file. The default filename is </a:t>
            </a:r>
            <a:r>
              <a:rPr lang="en">
                <a:solidFill>
                  <a:srgbClr val="188038"/>
                </a:solidFill>
                <a:latin typeface="Roboto Mono"/>
                <a:ea typeface="Roboto Mono"/>
                <a:cs typeface="Roboto Mono"/>
                <a:sym typeface="Roboto Mono"/>
              </a:rPr>
              <a:t>compose.yaml</a:t>
            </a:r>
            <a:r>
              <a:rPr lang="en">
                <a:solidFill>
                  <a:schemeClr val="dk1"/>
                </a:solidFill>
              </a:rPr>
              <a:t>. With one command; </a:t>
            </a:r>
            <a:r>
              <a:rPr lang="en">
                <a:solidFill>
                  <a:srgbClr val="188038"/>
                </a:solidFill>
                <a:latin typeface="Roboto Mono"/>
                <a:ea typeface="Roboto Mono"/>
                <a:cs typeface="Roboto Mono"/>
                <a:sym typeface="Roboto Mono"/>
              </a:rPr>
              <a:t>docker compose up</a:t>
            </a:r>
            <a:r>
              <a:rPr lang="en">
                <a:solidFill>
                  <a:schemeClr val="dk1"/>
                </a:solidFill>
              </a:rPr>
              <a:t> ; you can start your app and any services it depends on, like a database or Redis. This is how most real projects run during development.</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We’ll also use Compose to run a </a:t>
            </a:r>
            <a:r>
              <a:rPr b="1" lang="en">
                <a:solidFill>
                  <a:schemeClr val="dk1"/>
                </a:solidFill>
              </a:rPr>
              <a:t>Tailscale sidecar</a:t>
            </a:r>
            <a:r>
              <a:rPr lang="en">
                <a:solidFill>
                  <a:schemeClr val="dk1"/>
                </a:solidFill>
              </a:rPr>
              <a:t> that gives us a permanent, private HTTPS URL on our tailnet; no port-forwarding, no public exposure, and no expiring auth keys (we’ll use an OAuth client instead).</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h360a374bfac78769_1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h360a374bfac78769_1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This Compose file defines three services. vault builds our image and stores notes in a named volume. caddy is a lightweight reverse proxy that forwards port 80 to vault:5000 by service name. tailscale joins your private tailnet using an OAuth client; which never expires; and serves HTTPS on your MagicDNS name. serve.json tells Tailscale Serve to forward tailnet traffic to Caddy. That’s a real multi-container pattern: app → proxy → ingress.</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h360a374bfac78769_1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h360a374bfac78769_1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These are the only Compose commands you need 90% of the time. </a:t>
            </a:r>
            <a:r>
              <a:rPr lang="en">
                <a:solidFill>
                  <a:srgbClr val="188038"/>
                </a:solidFill>
                <a:latin typeface="Roboto Mono"/>
                <a:ea typeface="Roboto Mono"/>
                <a:cs typeface="Roboto Mono"/>
                <a:sym typeface="Roboto Mono"/>
              </a:rPr>
              <a:t>docker compose up</a:t>
            </a:r>
            <a:r>
              <a:rPr lang="en">
                <a:solidFill>
                  <a:schemeClr val="dk1"/>
                </a:solidFill>
              </a:rPr>
              <a:t> is your ‘start everything’ button; </a:t>
            </a:r>
            <a:r>
              <a:rPr lang="en">
                <a:solidFill>
                  <a:srgbClr val="188038"/>
                </a:solidFill>
                <a:latin typeface="Roboto Mono"/>
                <a:ea typeface="Roboto Mono"/>
                <a:cs typeface="Roboto Mono"/>
                <a:sym typeface="Roboto Mono"/>
              </a:rPr>
              <a:t>docker compose down</a:t>
            </a:r>
            <a:r>
              <a:rPr lang="en">
                <a:solidFill>
                  <a:schemeClr val="dk1"/>
                </a:solidFill>
              </a:rPr>
              <a:t> is your ‘stop everything and clean up’ button.</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h360a374bfac78769_1_2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h360a374bfac78769_1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On Windows, Docker Desktop doesn’t run Linux containers natively—it runs a tiny Linux VM using WSL2 or Hyper-V. On Linux, Docker Desktop also uses a VM for feature parity and security. The practical difference you’ll feel is file-system performance: if you bind-mount code from the Windows drive (</a:t>
            </a:r>
            <a:r>
              <a:rPr lang="en">
                <a:solidFill>
                  <a:srgbClr val="188038"/>
                </a:solidFill>
                <a:latin typeface="Roboto Mono"/>
                <a:ea typeface="Roboto Mono"/>
                <a:cs typeface="Roboto Mono"/>
                <a:sym typeface="Roboto Mono"/>
              </a:rPr>
              <a:t>/mnt/c/...</a:t>
            </a:r>
            <a:r>
              <a:rPr lang="en">
                <a:solidFill>
                  <a:schemeClr val="dk1"/>
                </a:solidFill>
              </a:rPr>
              <a:t>), it’s noticeably slower than keeping your project inside the Linux filesystem (the WSL2 home directory). For this workshop, if you’re on Windows, put your project folder inside your WSL2 home directory to avoid slow file access.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h360a374bfac78769_1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h360a374bfac78769_1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You may see a toggle in Docker Desktop for ‘Linux containers’ vs ‘Windows containers’. Unless you’re explicitly building a Windows-native application, you’ll stay in Linux container mode—even on Windows. Windows Home and Education editions only allow Linux containers.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h360a374bfac78769_1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h360a374bfac78769_1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Our vault is a Shiny Express app. Shiny Express lets us define UI and reactive logic in one Python file, so students can read and modify it easily. Editing notes triggers a live Markdown preview via the </a:t>
            </a:r>
            <a:r>
              <a:rPr lang="en">
                <a:solidFill>
                  <a:srgbClr val="188038"/>
                </a:solidFill>
                <a:latin typeface="Roboto Mono"/>
                <a:ea typeface="Roboto Mono"/>
                <a:cs typeface="Roboto Mono"/>
                <a:sym typeface="Roboto Mono"/>
              </a:rPr>
              <a:t>markdown</a:t>
            </a:r>
            <a:r>
              <a:rPr lang="en">
                <a:solidFill>
                  <a:schemeClr val="dk1"/>
                </a:solidFill>
              </a:rPr>
              <a:t> library. The upload control accepts drag-and-drop of </a:t>
            </a:r>
            <a:r>
              <a:rPr lang="en">
                <a:solidFill>
                  <a:srgbClr val="188038"/>
                </a:solidFill>
                <a:latin typeface="Roboto Mono"/>
                <a:ea typeface="Roboto Mono"/>
                <a:cs typeface="Roboto Mono"/>
                <a:sym typeface="Roboto Mono"/>
              </a:rPr>
              <a:t>.md</a:t>
            </a:r>
            <a:r>
              <a:rPr lang="en">
                <a:solidFill>
                  <a:schemeClr val="dk1"/>
                </a:solidFill>
              </a:rPr>
              <a:t> files in all modern browsers. Notes live in </a:t>
            </a:r>
            <a:r>
              <a:rPr lang="en">
                <a:solidFill>
                  <a:srgbClr val="188038"/>
                </a:solidFill>
                <a:latin typeface="Roboto Mono"/>
                <a:ea typeface="Roboto Mono"/>
                <a:cs typeface="Roboto Mono"/>
                <a:sym typeface="Roboto Mono"/>
              </a:rPr>
              <a:t>/app/notes</a:t>
            </a:r>
            <a:r>
              <a:rPr lang="en">
                <a:solidFill>
                  <a:schemeClr val="dk1"/>
                </a:solidFill>
              </a:rPr>
              <a:t>, which is backed by the named volume </a:t>
            </a:r>
            <a:r>
              <a:rPr lang="en">
                <a:solidFill>
                  <a:srgbClr val="188038"/>
                </a:solidFill>
                <a:latin typeface="Roboto Mono"/>
                <a:ea typeface="Roboto Mono"/>
                <a:cs typeface="Roboto Mono"/>
                <a:sym typeface="Roboto Mono"/>
              </a:rPr>
              <a:t>vault_data</a:t>
            </a:r>
            <a:r>
              <a:rPr lang="en">
                <a:solidFill>
                  <a:schemeClr val="dk1"/>
                </a:solidFill>
              </a:rPr>
              <a:t>. In the Compose stack, Tailscale exposes the app securely to your tailnet through Caddy, and the whole thing is reachable from any device logged into your tailnet.</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h360a374bfac78769_1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h360a374bfac78769_1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We’ll start with a local </a:t>
            </a:r>
            <a:r>
              <a:rPr lang="en">
                <a:solidFill>
                  <a:srgbClr val="188038"/>
                </a:solidFill>
                <a:latin typeface="Roboto Mono"/>
                <a:ea typeface="Roboto Mono"/>
                <a:cs typeface="Roboto Mono"/>
                <a:sym typeface="Roboto Mono"/>
              </a:rPr>
              <a:t>docker run</a:t>
            </a:r>
            <a:r>
              <a:rPr lang="en">
                <a:solidFill>
                  <a:schemeClr val="dk1"/>
                </a:solidFill>
              </a:rPr>
              <a:t> using a named volume (</a:t>
            </a:r>
            <a:r>
              <a:rPr lang="en">
                <a:solidFill>
                  <a:srgbClr val="188038"/>
                </a:solidFill>
                <a:latin typeface="Roboto Mono"/>
                <a:ea typeface="Roboto Mono"/>
                <a:cs typeface="Roboto Mono"/>
                <a:sym typeface="Roboto Mono"/>
              </a:rPr>
              <a:t>vault_data</a:t>
            </a:r>
            <a:r>
              <a:rPr lang="en">
                <a:solidFill>
                  <a:schemeClr val="dk1"/>
                </a:solidFill>
              </a:rPr>
              <a:t>). You’ll edit a note, stop and remove the container, then re-run with the same volume—your notes are still there because the volume outlives the container. Then we’ll switch to </a:t>
            </a:r>
            <a:r>
              <a:rPr lang="en">
                <a:solidFill>
                  <a:srgbClr val="188038"/>
                </a:solidFill>
                <a:latin typeface="Roboto Mono"/>
                <a:ea typeface="Roboto Mono"/>
                <a:cs typeface="Roboto Mono"/>
                <a:sym typeface="Roboto Mono"/>
              </a:rPr>
              <a:t>docker compose up -d</a:t>
            </a:r>
            <a:r>
              <a:rPr lang="en">
                <a:solidFill>
                  <a:schemeClr val="dk1"/>
                </a:solidFill>
              </a:rPr>
              <a:t> and open the app from another device on the tailnet via the MagicDNS URL.</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h360a374bfac78769_1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h360a374bfac78769_1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One thing to remember: because we used a Tailscale </a:t>
            </a:r>
            <a:r>
              <a:rPr b="1" lang="en">
                <a:solidFill>
                  <a:schemeClr val="dk1"/>
                </a:solidFill>
              </a:rPr>
              <a:t>OAuth client</a:t>
            </a:r>
            <a:r>
              <a:rPr lang="en">
                <a:solidFill>
                  <a:schemeClr val="dk1"/>
                </a:solidFill>
              </a:rPr>
              <a:t> instead of an auth key, the sidecar reconnects automatically forever; no key rotation, no 90-day expiry. That’s the production-friendly way to attach services to a tailnet.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docs.docker.com" TargetMode="External"/><Relationship Id="rId4" Type="http://schemas.openxmlformats.org/officeDocument/2006/relationships/hyperlink" Target="http://docs.docker.com/get-started/docker_cheatsheet.pdf" TargetMode="External"/><Relationship Id="rId5" Type="http://schemas.openxmlformats.org/officeDocument/2006/relationships/hyperlink" Target="http://gabrieldemarmiesse.github.io/python-on-whales/"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3"/>
          <p:cNvSpPr/>
          <p:nvPr/>
        </p:nvSpPr>
        <p:spPr>
          <a:xfrm>
            <a:off x="-100" y="0"/>
            <a:ext cx="9144000" cy="5143500"/>
          </a:xfrm>
          <a:prstGeom prst="rect">
            <a:avLst/>
          </a:prstGeom>
          <a:solidFill>
            <a:srgbClr val="FFFFFF">
              <a:alpha val="50910"/>
            </a:srgbClr>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FFFFFF"/>
              </a:solidFill>
              <a:latin typeface="Roboto"/>
              <a:ea typeface="Roboto"/>
              <a:cs typeface="Roboto"/>
              <a:sym typeface="Roboto"/>
            </a:endParaRPr>
          </a:p>
        </p:txBody>
      </p:sp>
      <p:sp>
        <p:nvSpPr>
          <p:cNvPr id="55" name="Google Shape;55;p13"/>
          <p:cNvSpPr txBox="1"/>
          <p:nvPr/>
        </p:nvSpPr>
        <p:spPr>
          <a:xfrm>
            <a:off x="122688" y="3325150"/>
            <a:ext cx="8898600" cy="1185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6500">
                <a:latin typeface="Archivo Black"/>
                <a:ea typeface="Archivo Black"/>
                <a:cs typeface="Archivo Black"/>
                <a:sym typeface="Archivo Black"/>
              </a:rPr>
              <a:t>INTRO TO DOCKER</a:t>
            </a:r>
            <a:endParaRPr sz="6500">
              <a:latin typeface="Archivo Black"/>
              <a:ea typeface="Archivo Black"/>
              <a:cs typeface="Archivo Black"/>
              <a:sym typeface="Archivo Black"/>
            </a:endParaRPr>
          </a:p>
        </p:txBody>
      </p:sp>
      <p:pic>
        <p:nvPicPr>
          <p:cNvPr id="56" name="Google Shape;56;p13" title="Untitled_design_3.png"/>
          <p:cNvPicPr preferRelativeResize="0"/>
          <p:nvPr/>
        </p:nvPicPr>
        <p:blipFill>
          <a:blip r:embed="rId4">
            <a:alphaModFix/>
          </a:blip>
          <a:stretch>
            <a:fillRect/>
          </a:stretch>
        </p:blipFill>
        <p:spPr>
          <a:xfrm>
            <a:off x="0" y="-126763"/>
            <a:ext cx="1668125" cy="2085200"/>
          </a:xfrm>
          <a:prstGeom prst="rect">
            <a:avLst/>
          </a:prstGeom>
          <a:noFill/>
          <a:ln>
            <a:noFill/>
          </a:ln>
        </p:spPr>
      </p:pic>
      <p:sp>
        <p:nvSpPr>
          <p:cNvPr id="57" name="Google Shape;57;p13"/>
          <p:cNvSpPr txBox="1"/>
          <p:nvPr/>
        </p:nvSpPr>
        <p:spPr>
          <a:xfrm>
            <a:off x="122600" y="4653075"/>
            <a:ext cx="88986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latin typeface="Exo 2"/>
                <a:ea typeface="Exo 2"/>
                <a:cs typeface="Exo 2"/>
                <a:sym typeface="Exo 2"/>
              </a:rPr>
              <a:t>Presented by Walker Caskey (@DSiENT), Cyber Jedis Administrative Director &amp; D5-Interactive Director</a:t>
            </a:r>
            <a:endParaRPr sz="1500">
              <a:latin typeface="Exo 2"/>
              <a:ea typeface="Exo 2"/>
              <a:cs typeface="Exo 2"/>
              <a:sym typeface="Exo 2"/>
            </a:endParaRPr>
          </a:p>
        </p:txBody>
      </p:sp>
      <p:pic>
        <p:nvPicPr>
          <p:cNvPr id="58" name="Google Shape;58;p13" title="docker_5969120.png"/>
          <p:cNvPicPr preferRelativeResize="0"/>
          <p:nvPr/>
        </p:nvPicPr>
        <p:blipFill>
          <a:blip r:embed="rId5">
            <a:alphaModFix/>
          </a:blip>
          <a:stretch>
            <a:fillRect/>
          </a:stretch>
        </p:blipFill>
        <p:spPr>
          <a:xfrm>
            <a:off x="3057973" y="297100"/>
            <a:ext cx="3028050" cy="3028050"/>
          </a:xfrm>
          <a:prstGeom prst="rect">
            <a:avLst/>
          </a:prstGeom>
          <a:noFill/>
          <a:ln>
            <a:noFill/>
          </a:ln>
        </p:spPr>
      </p:pic>
      <p:pic>
        <p:nvPicPr>
          <p:cNvPr id="59" name="Google Shape;59;p13" title="D5i-int(1).png"/>
          <p:cNvPicPr preferRelativeResize="0"/>
          <p:nvPr/>
        </p:nvPicPr>
        <p:blipFill>
          <a:blip r:embed="rId6">
            <a:alphaModFix/>
          </a:blip>
          <a:stretch>
            <a:fillRect/>
          </a:stretch>
        </p:blipFill>
        <p:spPr>
          <a:xfrm>
            <a:off x="7573800" y="0"/>
            <a:ext cx="1570201" cy="157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311700" y="445025"/>
            <a:ext cx="54597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chivo Black"/>
                <a:ea typeface="Archivo Black"/>
                <a:cs typeface="Archivo Black"/>
                <a:sym typeface="Archivo Black"/>
              </a:rPr>
              <a:t>The Problem Docker Solves</a:t>
            </a:r>
            <a:endParaRPr>
              <a:latin typeface="Archivo Black"/>
              <a:ea typeface="Archivo Black"/>
              <a:cs typeface="Archivo Black"/>
              <a:sym typeface="Archivo Black"/>
            </a:endParaRPr>
          </a:p>
        </p:txBody>
      </p:sp>
      <p:sp>
        <p:nvSpPr>
          <p:cNvPr id="65" name="Google Shape;65;p14"/>
          <p:cNvSpPr txBox="1"/>
          <p:nvPr>
            <p:ph idx="1" type="body"/>
          </p:nvPr>
        </p:nvSpPr>
        <p:spPr>
          <a:xfrm>
            <a:off x="311700" y="1152475"/>
            <a:ext cx="5155800" cy="34164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Clr>
                <a:srgbClr val="000000"/>
              </a:buClr>
              <a:buSzPts val="2400"/>
              <a:buFont typeface="Exo 2"/>
              <a:buChar char="-"/>
            </a:pPr>
            <a:r>
              <a:rPr lang="en" sz="2400">
                <a:solidFill>
                  <a:srgbClr val="000000"/>
                </a:solidFill>
                <a:latin typeface="Exo 2"/>
                <a:ea typeface="Exo 2"/>
                <a:cs typeface="Exo 2"/>
                <a:sym typeface="Exo 2"/>
              </a:rPr>
              <a:t>“Well it works on my machine!”</a:t>
            </a:r>
            <a:endParaRPr sz="2400">
              <a:solidFill>
                <a:srgbClr val="000000"/>
              </a:solidFill>
              <a:latin typeface="Exo 2"/>
              <a:ea typeface="Exo 2"/>
              <a:cs typeface="Exo 2"/>
              <a:sym typeface="Exo 2"/>
            </a:endParaRPr>
          </a:p>
          <a:p>
            <a:pPr indent="-381000" lvl="0" marL="457200" rtl="0" algn="l">
              <a:spcBef>
                <a:spcPts val="0"/>
              </a:spcBef>
              <a:spcAft>
                <a:spcPts val="0"/>
              </a:spcAft>
              <a:buClr>
                <a:srgbClr val="000000"/>
              </a:buClr>
              <a:buSzPts val="2400"/>
              <a:buFont typeface="Exo 2"/>
              <a:buChar char="-"/>
            </a:pPr>
            <a:r>
              <a:rPr lang="en" sz="2400">
                <a:solidFill>
                  <a:srgbClr val="000000"/>
                </a:solidFill>
                <a:latin typeface="Exo 2"/>
                <a:ea typeface="Exo 2"/>
                <a:cs typeface="Exo 2"/>
                <a:sym typeface="Exo 2"/>
              </a:rPr>
              <a:t>Different OS versions, Missing libraries, Conflicting dependencies</a:t>
            </a:r>
            <a:endParaRPr sz="2400">
              <a:solidFill>
                <a:srgbClr val="000000"/>
              </a:solidFill>
              <a:latin typeface="Exo 2"/>
              <a:ea typeface="Exo 2"/>
              <a:cs typeface="Exo 2"/>
              <a:sym typeface="Exo 2"/>
            </a:endParaRPr>
          </a:p>
          <a:p>
            <a:pPr indent="-381000" lvl="0" marL="457200" rtl="0" algn="l">
              <a:spcBef>
                <a:spcPts val="0"/>
              </a:spcBef>
              <a:spcAft>
                <a:spcPts val="0"/>
              </a:spcAft>
              <a:buClr>
                <a:srgbClr val="000000"/>
              </a:buClr>
              <a:buSzPts val="2400"/>
              <a:buFont typeface="Exo 2"/>
              <a:buChar char="-"/>
            </a:pPr>
            <a:r>
              <a:rPr lang="en" sz="2400">
                <a:solidFill>
                  <a:srgbClr val="000000"/>
                </a:solidFill>
                <a:latin typeface="Exo 2"/>
                <a:ea typeface="Exo 2"/>
                <a:cs typeface="Exo 2"/>
                <a:sym typeface="Exo 2"/>
              </a:rPr>
              <a:t>Virtual machines are HEAVY, each requires a full OS</a:t>
            </a:r>
            <a:endParaRPr sz="2400">
              <a:solidFill>
                <a:srgbClr val="000000"/>
              </a:solidFill>
              <a:latin typeface="Exo 2"/>
              <a:ea typeface="Exo 2"/>
              <a:cs typeface="Exo 2"/>
              <a:sym typeface="Exo 2"/>
            </a:endParaRPr>
          </a:p>
        </p:txBody>
      </p:sp>
      <p:pic>
        <p:nvPicPr>
          <p:cNvPr id="66" name="Google Shape;66;p14" title="docker_5969120.png"/>
          <p:cNvPicPr preferRelativeResize="0"/>
          <p:nvPr/>
        </p:nvPicPr>
        <p:blipFill>
          <a:blip r:embed="rId3">
            <a:alphaModFix/>
          </a:blip>
          <a:stretch>
            <a:fillRect/>
          </a:stretch>
        </p:blipFill>
        <p:spPr>
          <a:xfrm>
            <a:off x="5771523" y="1057725"/>
            <a:ext cx="3028050" cy="302805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chivo Black"/>
                <a:ea typeface="Archivo Black"/>
                <a:cs typeface="Archivo Black"/>
                <a:sym typeface="Archivo Black"/>
              </a:rPr>
              <a:t>What Is Docker?</a:t>
            </a:r>
            <a:endParaRPr>
              <a:latin typeface="Archivo Black"/>
              <a:ea typeface="Archivo Black"/>
              <a:cs typeface="Archivo Black"/>
              <a:sym typeface="Archivo Black"/>
            </a:endParaRPr>
          </a:p>
        </p:txBody>
      </p:sp>
      <p:sp>
        <p:nvSpPr>
          <p:cNvPr id="72" name="Google Shape;72;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solidFill>
                  <a:schemeClr val="dk1"/>
                </a:solidFill>
              </a:rPr>
              <a:t>Docker is an open platform for developing, shipping, and running applications in containers.</a:t>
            </a:r>
            <a:endParaRPr sz="2000">
              <a:solidFill>
                <a:schemeClr val="dk1"/>
              </a:solidFill>
            </a:endParaRPr>
          </a:p>
          <a:p>
            <a:pPr indent="-355600" lvl="0" marL="457200" rtl="0" algn="l">
              <a:spcBef>
                <a:spcPts val="1200"/>
              </a:spcBef>
              <a:spcAft>
                <a:spcPts val="0"/>
              </a:spcAft>
              <a:buClr>
                <a:schemeClr val="dk1"/>
              </a:buClr>
              <a:buSzPts val="2000"/>
              <a:buChar char="-"/>
            </a:pPr>
            <a:r>
              <a:rPr lang="en" sz="2000">
                <a:solidFill>
                  <a:schemeClr val="dk1"/>
                </a:solidFill>
              </a:rPr>
              <a:t>Packages your app and its dependencies into one portable unit</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Runs the same way on your laptop, a lab machine, or the cloud</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“Build once, run anywhere”</a:t>
            </a:r>
            <a:endParaRPr sz="20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chivo Black"/>
                <a:ea typeface="Archivo Black"/>
                <a:cs typeface="Archivo Black"/>
                <a:sym typeface="Archivo Black"/>
              </a:rPr>
              <a:t>What Is a Container?</a:t>
            </a:r>
            <a:endParaRPr>
              <a:latin typeface="Archivo Black"/>
              <a:ea typeface="Archivo Black"/>
              <a:cs typeface="Archivo Black"/>
              <a:sym typeface="Archivo Black"/>
            </a:endParaRPr>
          </a:p>
        </p:txBody>
      </p:sp>
      <p:sp>
        <p:nvSpPr>
          <p:cNvPr id="78" name="Google Shape;78;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solidFill>
                  <a:schemeClr val="dk1"/>
                </a:solidFill>
              </a:rPr>
              <a:t>Container = a runnable instance of an image</a:t>
            </a:r>
            <a:endParaRPr sz="2000">
              <a:solidFill>
                <a:schemeClr val="dk1"/>
              </a:solidFill>
            </a:endParaRPr>
          </a:p>
          <a:p>
            <a:pPr indent="-355600" lvl="0" marL="457200" rtl="0" algn="l">
              <a:spcBef>
                <a:spcPts val="1200"/>
              </a:spcBef>
              <a:spcAft>
                <a:spcPts val="0"/>
              </a:spcAft>
              <a:buClr>
                <a:schemeClr val="dk1"/>
              </a:buClr>
              <a:buSzPts val="2000"/>
              <a:buChar char="-"/>
            </a:pPr>
            <a:r>
              <a:rPr lang="en" sz="2000">
                <a:solidFill>
                  <a:schemeClr val="dk1"/>
                </a:solidFill>
              </a:rPr>
              <a:t>    Isolated from other containers and the host</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    Shares the host OS kernel → lightweight</a:t>
            </a:r>
            <a:endParaRPr sz="2000">
              <a:solidFill>
                <a:schemeClr val="dk1"/>
              </a:solidFill>
            </a:endParaRPr>
          </a:p>
          <a:p>
            <a:pPr indent="-355600" lvl="0" marL="457200" rtl="0" algn="l">
              <a:spcBef>
                <a:spcPts val="0"/>
              </a:spcBef>
              <a:spcAft>
                <a:spcPts val="0"/>
              </a:spcAft>
              <a:buClr>
                <a:schemeClr val="dk1"/>
              </a:buClr>
              <a:buSzPts val="2000"/>
              <a:buChar char="-"/>
            </a:pPr>
            <a:r>
              <a:rPr lang="en" sz="2000">
                <a:solidFill>
                  <a:schemeClr val="dk1"/>
                </a:solidFill>
              </a:rPr>
              <a:t>    Contains everything needed to run the app</a:t>
            </a:r>
            <a:endParaRPr sz="20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chivo Black"/>
                <a:ea typeface="Archivo Black"/>
                <a:cs typeface="Archivo Black"/>
                <a:sym typeface="Archivo Black"/>
              </a:rPr>
              <a:t>Image vs Container vs Dockerfile</a:t>
            </a:r>
            <a:endParaRPr>
              <a:latin typeface="Archivo Black"/>
              <a:ea typeface="Archivo Black"/>
              <a:cs typeface="Archivo Black"/>
              <a:sym typeface="Archivo Black"/>
            </a:endParaRPr>
          </a:p>
        </p:txBody>
      </p:sp>
      <p:sp>
        <p:nvSpPr>
          <p:cNvPr id="84" name="Google Shape;84;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solidFill>
                  <a:schemeClr val="dk1"/>
                </a:solidFill>
                <a:latin typeface="Exo 2 Medium"/>
                <a:ea typeface="Exo 2 Medium"/>
                <a:cs typeface="Exo 2 Medium"/>
                <a:sym typeface="Exo 2 Medium"/>
              </a:rPr>
              <a:t>Image: Read-only template; includes OS base + your app</a:t>
            </a:r>
            <a:endParaRPr sz="2000">
              <a:solidFill>
                <a:schemeClr val="dk1"/>
              </a:solidFill>
              <a:latin typeface="Exo 2 Medium"/>
              <a:ea typeface="Exo 2 Medium"/>
              <a:cs typeface="Exo 2 Medium"/>
              <a:sym typeface="Exo 2 Medium"/>
            </a:endParaRPr>
          </a:p>
          <a:p>
            <a:pPr indent="0" lvl="0" marL="0" rtl="0" algn="l">
              <a:spcBef>
                <a:spcPts val="1200"/>
              </a:spcBef>
              <a:spcAft>
                <a:spcPts val="0"/>
              </a:spcAft>
              <a:buNone/>
            </a:pPr>
            <a:r>
              <a:rPr lang="en" sz="2000">
                <a:solidFill>
                  <a:schemeClr val="dk1"/>
                </a:solidFill>
                <a:latin typeface="Exo 2 Medium"/>
                <a:ea typeface="Exo 2 Medium"/>
                <a:cs typeface="Exo 2 Medium"/>
                <a:sym typeface="Exo 2 Medium"/>
              </a:rPr>
              <a:t>Container: A running (or stopped) instance of an image</a:t>
            </a:r>
            <a:endParaRPr sz="2000">
              <a:solidFill>
                <a:schemeClr val="dk1"/>
              </a:solidFill>
              <a:latin typeface="Exo 2 Medium"/>
              <a:ea typeface="Exo 2 Medium"/>
              <a:cs typeface="Exo 2 Medium"/>
              <a:sym typeface="Exo 2 Medium"/>
            </a:endParaRPr>
          </a:p>
          <a:p>
            <a:pPr indent="0" lvl="0" marL="0" rtl="0" algn="l">
              <a:spcBef>
                <a:spcPts val="1200"/>
              </a:spcBef>
              <a:spcAft>
                <a:spcPts val="1200"/>
              </a:spcAft>
              <a:buNone/>
            </a:pPr>
            <a:r>
              <a:rPr lang="en" sz="2000">
                <a:solidFill>
                  <a:schemeClr val="dk1"/>
                </a:solidFill>
                <a:latin typeface="Exo 2 Medium"/>
                <a:ea typeface="Exo 2 Medium"/>
                <a:cs typeface="Exo 2 Medium"/>
                <a:sym typeface="Exo 2 Medium"/>
              </a:rPr>
              <a:t>Dockerfile: A text file with instructions to build an image</a:t>
            </a:r>
            <a:endParaRPr sz="2000">
              <a:solidFill>
                <a:schemeClr val="dk1"/>
              </a:solidFill>
              <a:latin typeface="Exo 2 Medium"/>
              <a:ea typeface="Exo 2 Medium"/>
              <a:cs typeface="Exo 2 Medium"/>
              <a:sym typeface="Exo 2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chivo Black"/>
                <a:ea typeface="Archivo Black"/>
                <a:cs typeface="Archivo Black"/>
                <a:sym typeface="Archivo Black"/>
              </a:rPr>
              <a:t>How Docker Is Used (Real-World)</a:t>
            </a:r>
            <a:endParaRPr>
              <a:latin typeface="Archivo Black"/>
              <a:ea typeface="Archivo Black"/>
              <a:cs typeface="Archivo Black"/>
              <a:sym typeface="Archivo Black"/>
            </a:endParaRPr>
          </a:p>
        </p:txBody>
      </p:sp>
      <p:sp>
        <p:nvSpPr>
          <p:cNvPr id="90" name="Google Shape;90;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Clr>
                <a:schemeClr val="dk1"/>
              </a:buClr>
              <a:buSzPts val="2000"/>
              <a:buFont typeface="Exo 2 Medium"/>
              <a:buChar char="-"/>
            </a:pPr>
            <a:r>
              <a:rPr lang="en" sz="2000">
                <a:solidFill>
                  <a:schemeClr val="dk1"/>
                </a:solidFill>
                <a:latin typeface="Exo 2 Medium"/>
                <a:ea typeface="Exo 2 Medium"/>
                <a:cs typeface="Exo 2 Medium"/>
                <a:sym typeface="Exo 2 Medium"/>
              </a:rPr>
              <a:t>Development – consistent dev environments across a team</a:t>
            </a:r>
            <a:endParaRPr sz="2000">
              <a:solidFill>
                <a:schemeClr val="dk1"/>
              </a:solidFill>
              <a:latin typeface="Exo 2 Medium"/>
              <a:ea typeface="Exo 2 Medium"/>
              <a:cs typeface="Exo 2 Medium"/>
              <a:sym typeface="Exo 2 Medium"/>
            </a:endParaRPr>
          </a:p>
          <a:p>
            <a:pPr indent="-355600" lvl="0" marL="457200" rtl="0" algn="l">
              <a:spcBef>
                <a:spcPts val="0"/>
              </a:spcBef>
              <a:spcAft>
                <a:spcPts val="0"/>
              </a:spcAft>
              <a:buClr>
                <a:schemeClr val="dk1"/>
              </a:buClr>
              <a:buSzPts val="2000"/>
              <a:buFont typeface="Exo 2 Medium"/>
              <a:buChar char="-"/>
            </a:pPr>
            <a:r>
              <a:rPr lang="en" sz="2000">
                <a:solidFill>
                  <a:schemeClr val="dk1"/>
                </a:solidFill>
                <a:latin typeface="Exo 2 Medium"/>
                <a:ea typeface="Exo 2 Medium"/>
                <a:cs typeface="Exo 2 Medium"/>
                <a:sym typeface="Exo 2 Medium"/>
              </a:rPr>
              <a:t>CI/CD – build, test, and ship the same container</a:t>
            </a:r>
            <a:endParaRPr sz="2000">
              <a:solidFill>
                <a:schemeClr val="dk1"/>
              </a:solidFill>
              <a:latin typeface="Exo 2 Medium"/>
              <a:ea typeface="Exo 2 Medium"/>
              <a:cs typeface="Exo 2 Medium"/>
              <a:sym typeface="Exo 2 Medium"/>
            </a:endParaRPr>
          </a:p>
          <a:p>
            <a:pPr indent="-355600" lvl="0" marL="457200" rtl="0" algn="l">
              <a:spcBef>
                <a:spcPts val="0"/>
              </a:spcBef>
              <a:spcAft>
                <a:spcPts val="0"/>
              </a:spcAft>
              <a:buClr>
                <a:schemeClr val="dk1"/>
              </a:buClr>
              <a:buSzPts val="2000"/>
              <a:buFont typeface="Exo 2 Medium"/>
              <a:buChar char="-"/>
            </a:pPr>
            <a:r>
              <a:rPr lang="en" sz="2000">
                <a:solidFill>
                  <a:schemeClr val="dk1"/>
                </a:solidFill>
                <a:latin typeface="Exo 2 Medium"/>
                <a:ea typeface="Exo 2 Medium"/>
                <a:cs typeface="Exo 2 Medium"/>
                <a:sym typeface="Exo 2 Medium"/>
              </a:rPr>
              <a:t>Deployment – run on laptops, servers, or cloud with no changes</a:t>
            </a:r>
            <a:endParaRPr sz="2000">
              <a:solidFill>
                <a:schemeClr val="dk1"/>
              </a:solidFill>
              <a:latin typeface="Exo 2 Medium"/>
              <a:ea typeface="Exo 2 Medium"/>
              <a:cs typeface="Exo 2 Medium"/>
              <a:sym typeface="Exo 2 Medium"/>
            </a:endParaRPr>
          </a:p>
          <a:p>
            <a:pPr indent="-355600" lvl="0" marL="457200" rtl="0" algn="l">
              <a:spcBef>
                <a:spcPts val="0"/>
              </a:spcBef>
              <a:spcAft>
                <a:spcPts val="0"/>
              </a:spcAft>
              <a:buClr>
                <a:schemeClr val="dk1"/>
              </a:buClr>
              <a:buSzPts val="2000"/>
              <a:buFont typeface="Exo 2 Medium"/>
              <a:buChar char="-"/>
            </a:pPr>
            <a:r>
              <a:rPr lang="en" sz="2000">
                <a:solidFill>
                  <a:schemeClr val="dk1"/>
                </a:solidFill>
                <a:latin typeface="Exo 2 Medium"/>
                <a:ea typeface="Exo 2 Medium"/>
                <a:cs typeface="Exo 2 Medium"/>
                <a:sym typeface="Exo 2 Medium"/>
              </a:rPr>
              <a:t>Education – every student gets an identical environment</a:t>
            </a:r>
            <a:endParaRPr sz="2000">
              <a:solidFill>
                <a:schemeClr val="dk1"/>
              </a:solidFill>
              <a:latin typeface="Exo 2 Medium"/>
              <a:ea typeface="Exo 2 Medium"/>
              <a:cs typeface="Exo 2 Medium"/>
              <a:sym typeface="Exo 2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chivo Black"/>
                <a:ea typeface="Archivo Black"/>
                <a:cs typeface="Archivo Black"/>
                <a:sym typeface="Archivo Black"/>
              </a:rPr>
              <a:t>Docker Architecture (30-Second Version)</a:t>
            </a:r>
            <a:endParaRPr>
              <a:latin typeface="Archivo Black"/>
              <a:ea typeface="Archivo Black"/>
              <a:cs typeface="Archivo Black"/>
              <a:sym typeface="Archivo Black"/>
            </a:endParaRPr>
          </a:p>
        </p:txBody>
      </p:sp>
      <p:sp>
        <p:nvSpPr>
          <p:cNvPr id="96" name="Google Shape;96;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solidFill>
                  <a:schemeClr val="dk1"/>
                </a:solidFill>
                <a:latin typeface="Exo 2 Medium"/>
                <a:ea typeface="Exo 2 Medium"/>
                <a:cs typeface="Exo 2 Medium"/>
                <a:sym typeface="Exo 2 Medium"/>
              </a:rPr>
              <a:t>Client (docker CLI) → Daemon (dockerd) → Containers</a:t>
            </a:r>
            <a:endParaRPr sz="2000">
              <a:solidFill>
                <a:schemeClr val="dk1"/>
              </a:solidFill>
              <a:latin typeface="Exo 2 Medium"/>
              <a:ea typeface="Exo 2 Medium"/>
              <a:cs typeface="Exo 2 Medium"/>
              <a:sym typeface="Exo 2 Medium"/>
            </a:endParaRPr>
          </a:p>
          <a:p>
            <a:pPr indent="-355600" lvl="0" marL="457200" rtl="0" algn="l">
              <a:spcBef>
                <a:spcPts val="1200"/>
              </a:spcBef>
              <a:spcAft>
                <a:spcPts val="0"/>
              </a:spcAft>
              <a:buClr>
                <a:schemeClr val="dk1"/>
              </a:buClr>
              <a:buSzPts val="2000"/>
              <a:buFont typeface="Exo 2 Medium"/>
              <a:buChar char="-"/>
            </a:pPr>
            <a:r>
              <a:rPr lang="en" sz="2000">
                <a:solidFill>
                  <a:schemeClr val="dk1"/>
                </a:solidFill>
                <a:latin typeface="Exo 2 Medium"/>
                <a:ea typeface="Exo 2 Medium"/>
                <a:cs typeface="Exo 2 Medium"/>
                <a:sym typeface="Exo 2 Medium"/>
              </a:rPr>
              <a:t>Client sends commands via REST API</a:t>
            </a:r>
            <a:endParaRPr sz="2000">
              <a:solidFill>
                <a:schemeClr val="dk1"/>
              </a:solidFill>
              <a:latin typeface="Exo 2 Medium"/>
              <a:ea typeface="Exo 2 Medium"/>
              <a:cs typeface="Exo 2 Medium"/>
              <a:sym typeface="Exo 2 Medium"/>
            </a:endParaRPr>
          </a:p>
          <a:p>
            <a:pPr indent="-355600" lvl="0" marL="457200" rtl="0" algn="l">
              <a:spcBef>
                <a:spcPts val="0"/>
              </a:spcBef>
              <a:spcAft>
                <a:spcPts val="0"/>
              </a:spcAft>
              <a:buClr>
                <a:schemeClr val="dk1"/>
              </a:buClr>
              <a:buSzPts val="2000"/>
              <a:buFont typeface="Exo 2 Medium"/>
              <a:buChar char="-"/>
            </a:pPr>
            <a:r>
              <a:rPr lang="en" sz="2000">
                <a:solidFill>
                  <a:schemeClr val="dk1"/>
                </a:solidFill>
                <a:latin typeface="Exo 2 Medium"/>
                <a:ea typeface="Exo 2 Medium"/>
                <a:cs typeface="Exo 2 Medium"/>
                <a:sym typeface="Exo 2 Medium"/>
              </a:rPr>
              <a:t>Daemon does the heavy lifting (build, run, distribute)</a:t>
            </a:r>
            <a:endParaRPr sz="2000">
              <a:solidFill>
                <a:schemeClr val="dk1"/>
              </a:solidFill>
              <a:latin typeface="Exo 2 Medium"/>
              <a:ea typeface="Exo 2 Medium"/>
              <a:cs typeface="Exo 2 Medium"/>
              <a:sym typeface="Exo 2 Medium"/>
            </a:endParaRPr>
          </a:p>
          <a:p>
            <a:pPr indent="-355600" lvl="0" marL="457200" rtl="0" algn="l">
              <a:spcBef>
                <a:spcPts val="0"/>
              </a:spcBef>
              <a:spcAft>
                <a:spcPts val="0"/>
              </a:spcAft>
              <a:buClr>
                <a:schemeClr val="dk1"/>
              </a:buClr>
              <a:buSzPts val="2000"/>
              <a:buFont typeface="Exo 2 Medium"/>
              <a:buChar char="-"/>
            </a:pPr>
            <a:r>
              <a:rPr lang="en" sz="2000">
                <a:solidFill>
                  <a:schemeClr val="dk1"/>
                </a:solidFill>
                <a:latin typeface="Exo 2 Medium"/>
                <a:ea typeface="Exo 2 Medium"/>
                <a:cs typeface="Exo 2 Medium"/>
                <a:sym typeface="Exo 2 Medium"/>
              </a:rPr>
              <a:t>Docker Desktop bundles everything for Windows/Mac</a:t>
            </a:r>
            <a:endParaRPr sz="2000">
              <a:solidFill>
                <a:schemeClr val="dk1"/>
              </a:solidFill>
              <a:latin typeface="Exo 2 Medium"/>
              <a:ea typeface="Exo 2 Medium"/>
              <a:cs typeface="Exo 2 Medium"/>
              <a:sym typeface="Exo 2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925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Archivo Black"/>
                <a:ea typeface="Archivo Black"/>
                <a:cs typeface="Archivo Black"/>
                <a:sym typeface="Archivo Black"/>
              </a:rPr>
              <a:t>Essential Docker CLI Commands</a:t>
            </a:r>
            <a:endParaRPr>
              <a:latin typeface="Archivo Black"/>
              <a:ea typeface="Archivo Black"/>
              <a:cs typeface="Archivo Black"/>
              <a:sym typeface="Archivo Black"/>
            </a:endParaRPr>
          </a:p>
        </p:txBody>
      </p:sp>
      <p:graphicFrame>
        <p:nvGraphicFramePr>
          <p:cNvPr id="102" name="Google Shape;102;p20"/>
          <p:cNvGraphicFramePr/>
          <p:nvPr/>
        </p:nvGraphicFramePr>
        <p:xfrm>
          <a:off x="1994400" y="810375"/>
          <a:ext cx="3000000" cy="3000000"/>
        </p:xfrm>
        <a:graphic>
          <a:graphicData uri="http://schemas.openxmlformats.org/drawingml/2006/table">
            <a:tbl>
              <a:tblPr>
                <a:noFill/>
                <a:tableStyleId>{703D29D6-77DA-4D2D-AF9F-9845865E27CD}</a:tableStyleId>
              </a:tblPr>
              <a:tblGrid>
                <a:gridCol w="2577600"/>
                <a:gridCol w="2577600"/>
              </a:tblGrid>
              <a:tr h="255300">
                <a:tc>
                  <a:txBody>
                    <a:bodyPr/>
                    <a:lstStyle/>
                    <a:p>
                      <a:pPr indent="0" lvl="0" marL="0" rtl="0" algn="l">
                        <a:spcBef>
                          <a:spcPts val="0"/>
                        </a:spcBef>
                        <a:spcAft>
                          <a:spcPts val="0"/>
                        </a:spcAft>
                        <a:buNone/>
                      </a:pPr>
                      <a:r>
                        <a:rPr lang="en" sz="1200">
                          <a:solidFill>
                            <a:srgbClr val="188038"/>
                          </a:solidFill>
                          <a:latin typeface="Roboto Mono"/>
                          <a:ea typeface="Roboto Mono"/>
                          <a:cs typeface="Roboto Mono"/>
                          <a:sym typeface="Roboto Mono"/>
                        </a:rPr>
                        <a:t>docker pull &lt;image&gt;</a:t>
                      </a:r>
                      <a:endParaRPr sz="1200">
                        <a:latin typeface="Exo 2"/>
                        <a:ea typeface="Exo 2"/>
                        <a:cs typeface="Exo 2"/>
                        <a:sym typeface="Exo 2"/>
                      </a:endParaRPr>
                    </a:p>
                  </a:txBody>
                  <a:tcPr marT="91425" marB="91425" marR="91425" marL="91425"/>
                </a:tc>
                <a:tc>
                  <a:txBody>
                    <a:bodyPr/>
                    <a:lstStyle/>
                    <a:p>
                      <a:pPr indent="0" lvl="0" marL="0" rtl="0" algn="l">
                        <a:spcBef>
                          <a:spcPts val="0"/>
                        </a:spcBef>
                        <a:spcAft>
                          <a:spcPts val="0"/>
                        </a:spcAft>
                        <a:buNone/>
                      </a:pPr>
                      <a:r>
                        <a:rPr lang="en" sz="1200">
                          <a:latin typeface="Exo 2"/>
                          <a:ea typeface="Exo 2"/>
                          <a:cs typeface="Exo 2"/>
                          <a:sym typeface="Exo 2"/>
                        </a:rPr>
                        <a:t>Download an image from Docker Hub</a:t>
                      </a:r>
                      <a:endParaRPr sz="1200">
                        <a:latin typeface="Exo 2"/>
                        <a:ea typeface="Exo 2"/>
                        <a:cs typeface="Exo 2"/>
                        <a:sym typeface="Exo 2"/>
                      </a:endParaRPr>
                    </a:p>
                  </a:txBody>
                  <a:tcPr marT="91425" marB="91425" marR="91425" marL="91425"/>
                </a:tc>
              </a:tr>
              <a:tr h="248825">
                <a:tc>
                  <a:txBody>
                    <a:bodyPr/>
                    <a:lstStyle/>
                    <a:p>
                      <a:pPr indent="0" lvl="0" marL="0" rtl="0" algn="l">
                        <a:spcBef>
                          <a:spcPts val="0"/>
                        </a:spcBef>
                        <a:spcAft>
                          <a:spcPts val="0"/>
                        </a:spcAft>
                        <a:buNone/>
                      </a:pPr>
                      <a:r>
                        <a:rPr lang="en" sz="1200">
                          <a:solidFill>
                            <a:srgbClr val="188038"/>
                          </a:solidFill>
                          <a:latin typeface="Roboto Mono"/>
                          <a:ea typeface="Roboto Mono"/>
                          <a:cs typeface="Roboto Mono"/>
                          <a:sym typeface="Roboto Mono"/>
                        </a:rPr>
                        <a:t>docker images</a:t>
                      </a:r>
                      <a:endParaRPr sz="1200">
                        <a:latin typeface="Exo 2"/>
                        <a:ea typeface="Exo 2"/>
                        <a:cs typeface="Exo 2"/>
                        <a:sym typeface="Exo 2"/>
                      </a:endParaRPr>
                    </a:p>
                  </a:txBody>
                  <a:tcPr marT="91425" marB="91425" marR="91425" marL="91425"/>
                </a:tc>
                <a:tc>
                  <a:txBody>
                    <a:bodyPr/>
                    <a:lstStyle/>
                    <a:p>
                      <a:pPr indent="0" lvl="0" marL="0" rtl="0" algn="l">
                        <a:spcBef>
                          <a:spcPts val="0"/>
                        </a:spcBef>
                        <a:spcAft>
                          <a:spcPts val="0"/>
                        </a:spcAft>
                        <a:buNone/>
                      </a:pPr>
                      <a:r>
                        <a:rPr lang="en" sz="1200">
                          <a:latin typeface="Exo 2"/>
                          <a:ea typeface="Exo 2"/>
                          <a:cs typeface="Exo 2"/>
                          <a:sym typeface="Exo 2"/>
                        </a:rPr>
                        <a:t>List local images</a:t>
                      </a:r>
                      <a:endParaRPr sz="1200">
                        <a:latin typeface="Exo 2"/>
                        <a:ea typeface="Exo 2"/>
                        <a:cs typeface="Exo 2"/>
                        <a:sym typeface="Exo 2"/>
                      </a:endParaRPr>
                    </a:p>
                  </a:txBody>
                  <a:tcPr marT="91425" marB="91425" marR="91425" marL="91425"/>
                </a:tc>
              </a:tr>
              <a:tr h="248825">
                <a:tc>
                  <a:txBody>
                    <a:bodyPr/>
                    <a:lstStyle/>
                    <a:p>
                      <a:pPr indent="0" lvl="0" marL="0" rtl="0" algn="l">
                        <a:spcBef>
                          <a:spcPts val="0"/>
                        </a:spcBef>
                        <a:spcAft>
                          <a:spcPts val="0"/>
                        </a:spcAft>
                        <a:buNone/>
                      </a:pPr>
                      <a:r>
                        <a:rPr lang="en" sz="1200">
                          <a:solidFill>
                            <a:srgbClr val="188038"/>
                          </a:solidFill>
                          <a:latin typeface="Roboto Mono"/>
                          <a:ea typeface="Roboto Mono"/>
                          <a:cs typeface="Roboto Mono"/>
                          <a:sym typeface="Roboto Mono"/>
                        </a:rPr>
                        <a:t>docker run &lt;image&gt;</a:t>
                      </a:r>
                      <a:endParaRPr sz="1200">
                        <a:latin typeface="Exo 2"/>
                        <a:ea typeface="Exo 2"/>
                        <a:cs typeface="Exo 2"/>
                        <a:sym typeface="Exo 2"/>
                      </a:endParaRPr>
                    </a:p>
                  </a:txBody>
                  <a:tcPr marT="91425" marB="91425" marR="91425" marL="91425"/>
                </a:tc>
                <a:tc>
                  <a:txBody>
                    <a:bodyPr/>
                    <a:lstStyle/>
                    <a:p>
                      <a:pPr indent="0" lvl="0" marL="0" rtl="0" algn="l">
                        <a:spcBef>
                          <a:spcPts val="0"/>
                        </a:spcBef>
                        <a:spcAft>
                          <a:spcPts val="0"/>
                        </a:spcAft>
                        <a:buNone/>
                      </a:pPr>
                      <a:r>
                        <a:rPr lang="en" sz="1200">
                          <a:latin typeface="Exo 2"/>
                          <a:ea typeface="Exo 2"/>
                          <a:cs typeface="Exo 2"/>
                          <a:sym typeface="Exo 2"/>
                        </a:rPr>
                        <a:t>Create + start a container</a:t>
                      </a:r>
                      <a:endParaRPr sz="1200">
                        <a:latin typeface="Exo 2"/>
                        <a:ea typeface="Exo 2"/>
                        <a:cs typeface="Exo 2"/>
                        <a:sym typeface="Exo 2"/>
                      </a:endParaRPr>
                    </a:p>
                  </a:txBody>
                  <a:tcPr marT="91425" marB="91425" marR="91425" marL="91425"/>
                </a:tc>
              </a:tr>
              <a:tr h="248825">
                <a:tc>
                  <a:txBody>
                    <a:bodyPr/>
                    <a:lstStyle/>
                    <a:p>
                      <a:pPr indent="0" lvl="0" marL="0" rtl="0" algn="l">
                        <a:spcBef>
                          <a:spcPts val="0"/>
                        </a:spcBef>
                        <a:spcAft>
                          <a:spcPts val="0"/>
                        </a:spcAft>
                        <a:buNone/>
                      </a:pPr>
                      <a:r>
                        <a:rPr lang="en" sz="1200">
                          <a:solidFill>
                            <a:srgbClr val="188038"/>
                          </a:solidFill>
                          <a:latin typeface="Roboto Mono"/>
                          <a:ea typeface="Roboto Mono"/>
                          <a:cs typeface="Roboto Mono"/>
                          <a:sym typeface="Roboto Mono"/>
                        </a:rPr>
                        <a:t>docker ps</a:t>
                      </a:r>
                      <a:endParaRPr sz="1200">
                        <a:latin typeface="Exo 2"/>
                        <a:ea typeface="Exo 2"/>
                        <a:cs typeface="Exo 2"/>
                        <a:sym typeface="Exo 2"/>
                      </a:endParaRPr>
                    </a:p>
                  </a:txBody>
                  <a:tcPr marT="91425" marB="91425" marR="91425" marL="91425"/>
                </a:tc>
                <a:tc>
                  <a:txBody>
                    <a:bodyPr/>
                    <a:lstStyle/>
                    <a:p>
                      <a:pPr indent="0" lvl="0" marL="0" rtl="0" algn="l">
                        <a:spcBef>
                          <a:spcPts val="0"/>
                        </a:spcBef>
                        <a:spcAft>
                          <a:spcPts val="0"/>
                        </a:spcAft>
                        <a:buNone/>
                      </a:pPr>
                      <a:r>
                        <a:rPr lang="en" sz="1200">
                          <a:latin typeface="Exo 2"/>
                          <a:ea typeface="Exo 2"/>
                          <a:cs typeface="Exo 2"/>
                          <a:sym typeface="Exo 2"/>
                        </a:rPr>
                        <a:t>List running containers</a:t>
                      </a:r>
                      <a:endParaRPr sz="1200">
                        <a:latin typeface="Exo 2"/>
                        <a:ea typeface="Exo 2"/>
                        <a:cs typeface="Exo 2"/>
                        <a:sym typeface="Exo 2"/>
                      </a:endParaRPr>
                    </a:p>
                  </a:txBody>
                  <a:tcPr marT="91425" marB="91425" marR="91425" marL="91425"/>
                </a:tc>
              </a:tr>
              <a:tr h="248825">
                <a:tc>
                  <a:txBody>
                    <a:bodyPr/>
                    <a:lstStyle/>
                    <a:p>
                      <a:pPr indent="0" lvl="0" marL="0" rtl="0" algn="l">
                        <a:spcBef>
                          <a:spcPts val="0"/>
                        </a:spcBef>
                        <a:spcAft>
                          <a:spcPts val="0"/>
                        </a:spcAft>
                        <a:buNone/>
                      </a:pPr>
                      <a:r>
                        <a:rPr lang="en" sz="1200">
                          <a:solidFill>
                            <a:srgbClr val="188038"/>
                          </a:solidFill>
                          <a:latin typeface="Roboto Mono"/>
                          <a:ea typeface="Roboto Mono"/>
                          <a:cs typeface="Roboto Mono"/>
                          <a:sym typeface="Roboto Mono"/>
                        </a:rPr>
                        <a:t>docker ps -a</a:t>
                      </a:r>
                      <a:endParaRPr sz="1200">
                        <a:latin typeface="Exo 2"/>
                        <a:ea typeface="Exo 2"/>
                        <a:cs typeface="Exo 2"/>
                        <a:sym typeface="Exo 2"/>
                      </a:endParaRPr>
                    </a:p>
                  </a:txBody>
                  <a:tcPr marT="91425" marB="91425" marR="91425" marL="91425"/>
                </a:tc>
                <a:tc>
                  <a:txBody>
                    <a:bodyPr/>
                    <a:lstStyle/>
                    <a:p>
                      <a:pPr indent="0" lvl="0" marL="0" rtl="0" algn="l">
                        <a:spcBef>
                          <a:spcPts val="0"/>
                        </a:spcBef>
                        <a:spcAft>
                          <a:spcPts val="0"/>
                        </a:spcAft>
                        <a:buNone/>
                      </a:pPr>
                      <a:r>
                        <a:rPr lang="en" sz="1200">
                          <a:latin typeface="Exo 2"/>
                          <a:ea typeface="Exo 2"/>
                          <a:cs typeface="Exo 2"/>
                          <a:sym typeface="Exo 2"/>
                        </a:rPr>
                        <a:t>List all containers (including stopped)</a:t>
                      </a:r>
                      <a:endParaRPr sz="1200">
                        <a:latin typeface="Exo 2"/>
                        <a:ea typeface="Exo 2"/>
                        <a:cs typeface="Exo 2"/>
                        <a:sym typeface="Exo 2"/>
                      </a:endParaRPr>
                    </a:p>
                  </a:txBody>
                  <a:tcPr marT="91425" marB="91425" marR="91425" marL="91425"/>
                </a:tc>
              </a:tr>
              <a:tr h="248825">
                <a:tc>
                  <a:txBody>
                    <a:bodyPr/>
                    <a:lstStyle/>
                    <a:p>
                      <a:pPr indent="0" lvl="0" marL="0" rtl="0" algn="l">
                        <a:spcBef>
                          <a:spcPts val="0"/>
                        </a:spcBef>
                        <a:spcAft>
                          <a:spcPts val="0"/>
                        </a:spcAft>
                        <a:buNone/>
                      </a:pPr>
                      <a:r>
                        <a:rPr lang="en" sz="1200">
                          <a:solidFill>
                            <a:srgbClr val="188038"/>
                          </a:solidFill>
                          <a:latin typeface="Roboto Mono"/>
                          <a:ea typeface="Roboto Mono"/>
                          <a:cs typeface="Roboto Mono"/>
                          <a:sym typeface="Roboto Mono"/>
                        </a:rPr>
                        <a:t>docker stop &lt;container&gt;</a:t>
                      </a:r>
                      <a:endParaRPr sz="1200">
                        <a:latin typeface="Exo 2"/>
                        <a:ea typeface="Exo 2"/>
                        <a:cs typeface="Exo 2"/>
                        <a:sym typeface="Exo 2"/>
                      </a:endParaRPr>
                    </a:p>
                  </a:txBody>
                  <a:tcPr marT="91425" marB="91425" marR="91425" marL="91425"/>
                </a:tc>
                <a:tc>
                  <a:txBody>
                    <a:bodyPr/>
                    <a:lstStyle/>
                    <a:p>
                      <a:pPr indent="0" lvl="0" marL="0" rtl="0" algn="l">
                        <a:spcBef>
                          <a:spcPts val="0"/>
                        </a:spcBef>
                        <a:spcAft>
                          <a:spcPts val="0"/>
                        </a:spcAft>
                        <a:buNone/>
                      </a:pPr>
                      <a:r>
                        <a:rPr lang="en" sz="1200">
                          <a:latin typeface="Exo 2"/>
                          <a:ea typeface="Exo 2"/>
                          <a:cs typeface="Exo 2"/>
                          <a:sym typeface="Exo 2"/>
                        </a:rPr>
                        <a:t>Stop a running container</a:t>
                      </a:r>
                      <a:endParaRPr sz="1200">
                        <a:latin typeface="Exo 2"/>
                        <a:ea typeface="Exo 2"/>
                        <a:cs typeface="Exo 2"/>
                        <a:sym typeface="Exo 2"/>
                      </a:endParaRPr>
                    </a:p>
                  </a:txBody>
                  <a:tcPr marT="91425" marB="91425" marR="91425" marL="91425"/>
                </a:tc>
              </a:tr>
              <a:tr h="248825">
                <a:tc>
                  <a:txBody>
                    <a:bodyPr/>
                    <a:lstStyle/>
                    <a:p>
                      <a:pPr indent="0" lvl="0" marL="0" rtl="0" algn="l">
                        <a:spcBef>
                          <a:spcPts val="0"/>
                        </a:spcBef>
                        <a:spcAft>
                          <a:spcPts val="0"/>
                        </a:spcAft>
                        <a:buNone/>
                      </a:pPr>
                      <a:r>
                        <a:rPr lang="en" sz="1200">
                          <a:solidFill>
                            <a:srgbClr val="188038"/>
                          </a:solidFill>
                          <a:latin typeface="Roboto Mono"/>
                          <a:ea typeface="Roboto Mono"/>
                          <a:cs typeface="Roboto Mono"/>
                          <a:sym typeface="Roboto Mono"/>
                        </a:rPr>
                        <a:t>docker rm &lt;container&gt;</a:t>
                      </a:r>
                      <a:endParaRPr sz="1200">
                        <a:latin typeface="Exo 2"/>
                        <a:ea typeface="Exo 2"/>
                        <a:cs typeface="Exo 2"/>
                        <a:sym typeface="Exo 2"/>
                      </a:endParaRPr>
                    </a:p>
                  </a:txBody>
                  <a:tcPr marT="91425" marB="91425" marR="91425" marL="91425"/>
                </a:tc>
                <a:tc>
                  <a:txBody>
                    <a:bodyPr/>
                    <a:lstStyle/>
                    <a:p>
                      <a:pPr indent="0" lvl="0" marL="0" rtl="0" algn="l">
                        <a:spcBef>
                          <a:spcPts val="0"/>
                        </a:spcBef>
                        <a:spcAft>
                          <a:spcPts val="0"/>
                        </a:spcAft>
                        <a:buNone/>
                      </a:pPr>
                      <a:r>
                        <a:rPr lang="en" sz="1200">
                          <a:latin typeface="Exo 2"/>
                          <a:ea typeface="Exo 2"/>
                          <a:cs typeface="Exo 2"/>
                          <a:sym typeface="Exo 2"/>
                        </a:rPr>
                        <a:t>Remove a stopped container</a:t>
                      </a:r>
                      <a:endParaRPr sz="1200">
                        <a:latin typeface="Exo 2"/>
                        <a:ea typeface="Exo 2"/>
                        <a:cs typeface="Exo 2"/>
                        <a:sym typeface="Exo 2"/>
                      </a:endParaRPr>
                    </a:p>
                  </a:txBody>
                  <a:tcPr marT="91425" marB="91425" marR="91425" marL="91425"/>
                </a:tc>
              </a:tr>
              <a:tr h="248825">
                <a:tc>
                  <a:txBody>
                    <a:bodyPr/>
                    <a:lstStyle/>
                    <a:p>
                      <a:pPr indent="0" lvl="0" marL="0" rtl="0" algn="l">
                        <a:spcBef>
                          <a:spcPts val="0"/>
                        </a:spcBef>
                        <a:spcAft>
                          <a:spcPts val="0"/>
                        </a:spcAft>
                        <a:buNone/>
                      </a:pPr>
                      <a:r>
                        <a:rPr lang="en" sz="1200">
                          <a:solidFill>
                            <a:srgbClr val="188038"/>
                          </a:solidFill>
                          <a:latin typeface="Roboto Mono"/>
                          <a:ea typeface="Roboto Mono"/>
                          <a:cs typeface="Roboto Mono"/>
                          <a:sym typeface="Roboto Mono"/>
                        </a:rPr>
                        <a:t>docker rmi &lt;image&gt;</a:t>
                      </a:r>
                      <a:endParaRPr sz="1200">
                        <a:latin typeface="Exo 2"/>
                        <a:ea typeface="Exo 2"/>
                        <a:cs typeface="Exo 2"/>
                        <a:sym typeface="Exo 2"/>
                      </a:endParaRPr>
                    </a:p>
                  </a:txBody>
                  <a:tcPr marT="91425" marB="91425" marR="91425" marL="91425"/>
                </a:tc>
                <a:tc>
                  <a:txBody>
                    <a:bodyPr/>
                    <a:lstStyle/>
                    <a:p>
                      <a:pPr indent="0" lvl="0" marL="0" rtl="0" algn="l">
                        <a:spcBef>
                          <a:spcPts val="0"/>
                        </a:spcBef>
                        <a:spcAft>
                          <a:spcPts val="0"/>
                        </a:spcAft>
                        <a:buNone/>
                      </a:pPr>
                      <a:r>
                        <a:rPr lang="en" sz="1200">
                          <a:latin typeface="Exo 2"/>
                          <a:ea typeface="Exo 2"/>
                          <a:cs typeface="Exo 2"/>
                          <a:sym typeface="Exo 2"/>
                        </a:rPr>
                        <a:t>Remove an image</a:t>
                      </a:r>
                      <a:endParaRPr sz="1200">
                        <a:latin typeface="Exo 2"/>
                        <a:ea typeface="Exo 2"/>
                        <a:cs typeface="Exo 2"/>
                        <a:sym typeface="Exo 2"/>
                      </a:endParaRPr>
                    </a:p>
                  </a:txBody>
                  <a:tcPr marT="91425" marB="91425" marR="91425" marL="91425"/>
                </a:tc>
              </a:tr>
              <a:tr h="248825">
                <a:tc>
                  <a:txBody>
                    <a:bodyPr/>
                    <a:lstStyle/>
                    <a:p>
                      <a:pPr indent="0" lvl="0" marL="0" rtl="0" algn="l">
                        <a:spcBef>
                          <a:spcPts val="0"/>
                        </a:spcBef>
                        <a:spcAft>
                          <a:spcPts val="0"/>
                        </a:spcAft>
                        <a:buNone/>
                      </a:pPr>
                      <a:r>
                        <a:rPr lang="en" sz="1200">
                          <a:solidFill>
                            <a:srgbClr val="188038"/>
                          </a:solidFill>
                          <a:latin typeface="Roboto Mono"/>
                          <a:ea typeface="Roboto Mono"/>
                          <a:cs typeface="Roboto Mono"/>
                          <a:sym typeface="Roboto Mono"/>
                        </a:rPr>
                        <a:t>docker logs &lt;container&gt;</a:t>
                      </a:r>
                      <a:endParaRPr sz="1200">
                        <a:latin typeface="Exo 2"/>
                        <a:ea typeface="Exo 2"/>
                        <a:cs typeface="Exo 2"/>
                        <a:sym typeface="Exo 2"/>
                      </a:endParaRPr>
                    </a:p>
                  </a:txBody>
                  <a:tcPr marT="91425" marB="91425" marR="91425" marL="91425"/>
                </a:tc>
                <a:tc>
                  <a:txBody>
                    <a:bodyPr/>
                    <a:lstStyle/>
                    <a:p>
                      <a:pPr indent="0" lvl="0" marL="0" rtl="0" algn="l">
                        <a:spcBef>
                          <a:spcPts val="0"/>
                        </a:spcBef>
                        <a:spcAft>
                          <a:spcPts val="0"/>
                        </a:spcAft>
                        <a:buNone/>
                      </a:pPr>
                      <a:r>
                        <a:rPr lang="en" sz="1200">
                          <a:latin typeface="Exo 2"/>
                          <a:ea typeface="Exo 2"/>
                          <a:cs typeface="Exo 2"/>
                          <a:sym typeface="Exo 2"/>
                        </a:rPr>
                        <a:t>View container output</a:t>
                      </a:r>
                      <a:endParaRPr sz="1200">
                        <a:latin typeface="Exo 2"/>
                        <a:ea typeface="Exo 2"/>
                        <a:cs typeface="Exo 2"/>
                        <a:sym typeface="Exo 2"/>
                      </a:endParaRPr>
                    </a:p>
                  </a:txBody>
                  <a:tcPr marT="91425" marB="91425" marR="91425" marL="91425"/>
                </a:tc>
              </a:tr>
              <a:tr h="248825">
                <a:tc>
                  <a:txBody>
                    <a:bodyPr/>
                    <a:lstStyle/>
                    <a:p>
                      <a:pPr indent="0" lvl="0" marL="0" rtl="0" algn="l">
                        <a:spcBef>
                          <a:spcPts val="0"/>
                        </a:spcBef>
                        <a:spcAft>
                          <a:spcPts val="0"/>
                        </a:spcAft>
                        <a:buNone/>
                      </a:pPr>
                      <a:r>
                        <a:rPr lang="en" sz="1200">
                          <a:solidFill>
                            <a:srgbClr val="188038"/>
                          </a:solidFill>
                          <a:latin typeface="Roboto Mono"/>
                          <a:ea typeface="Roboto Mono"/>
                          <a:cs typeface="Roboto Mono"/>
                          <a:sym typeface="Roboto Mono"/>
                        </a:rPr>
                        <a:t>docker exec -it &lt;container&gt; sh</a:t>
                      </a:r>
                      <a:endParaRPr sz="1200">
                        <a:latin typeface="Exo 2"/>
                        <a:ea typeface="Exo 2"/>
                        <a:cs typeface="Exo 2"/>
                        <a:sym typeface="Exo 2"/>
                      </a:endParaRPr>
                    </a:p>
                  </a:txBody>
                  <a:tcPr marT="91425" marB="91425" marR="91425" marL="91425"/>
                </a:tc>
                <a:tc>
                  <a:txBody>
                    <a:bodyPr/>
                    <a:lstStyle/>
                    <a:p>
                      <a:pPr indent="0" lvl="0" marL="0" rtl="0" algn="l">
                        <a:spcBef>
                          <a:spcPts val="0"/>
                        </a:spcBef>
                        <a:spcAft>
                          <a:spcPts val="0"/>
                        </a:spcAft>
                        <a:buNone/>
                      </a:pPr>
                      <a:r>
                        <a:rPr lang="en" sz="1200">
                          <a:latin typeface="Exo 2"/>
                          <a:ea typeface="Exo 2"/>
                          <a:cs typeface="Exo 2"/>
                          <a:sym typeface="Exo 2"/>
                        </a:rPr>
                        <a:t>Open a shell inside a running container</a:t>
                      </a:r>
                      <a:endParaRPr sz="1200">
                        <a:latin typeface="Exo 2"/>
                        <a:ea typeface="Exo 2"/>
                        <a:cs typeface="Exo 2"/>
                        <a:sym typeface="Exo 2"/>
                      </a:endParaRPr>
                    </a:p>
                  </a:txBody>
                  <a:tcPr marT="91425" marB="91425" marR="91425" marL="91425"/>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chivo Black"/>
                <a:ea typeface="Archivo Black"/>
                <a:cs typeface="Archivo Black"/>
                <a:sym typeface="Archivo Black"/>
              </a:rPr>
              <a:t>Useful </a:t>
            </a:r>
            <a:r>
              <a:rPr lang="en">
                <a:solidFill>
                  <a:srgbClr val="188038"/>
                </a:solidFill>
                <a:latin typeface="Roboto Mono"/>
                <a:ea typeface="Roboto Mono"/>
                <a:cs typeface="Roboto Mono"/>
                <a:sym typeface="Roboto Mono"/>
              </a:rPr>
              <a:t>docker run</a:t>
            </a:r>
            <a:r>
              <a:rPr lang="en">
                <a:latin typeface="Archivo Black"/>
                <a:ea typeface="Archivo Black"/>
                <a:cs typeface="Archivo Black"/>
                <a:sym typeface="Archivo Black"/>
              </a:rPr>
              <a:t> Flags</a:t>
            </a:r>
            <a:endParaRPr>
              <a:latin typeface="Archivo Black"/>
              <a:ea typeface="Archivo Black"/>
              <a:cs typeface="Archivo Black"/>
              <a:sym typeface="Archivo Black"/>
            </a:endParaRPr>
          </a:p>
        </p:txBody>
      </p:sp>
      <p:sp>
        <p:nvSpPr>
          <p:cNvPr id="108" name="Google Shape;108;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700">
                <a:solidFill>
                  <a:srgbClr val="188038"/>
                </a:solidFill>
                <a:latin typeface="Roboto Mono"/>
                <a:ea typeface="Roboto Mono"/>
                <a:cs typeface="Roboto Mono"/>
                <a:sym typeface="Roboto Mono"/>
              </a:rPr>
              <a:t>-d</a:t>
            </a:r>
            <a:r>
              <a:rPr lang="en" sz="1700">
                <a:solidFill>
                  <a:schemeClr val="dk1"/>
                </a:solidFill>
                <a:latin typeface="Exo 2 Medium"/>
                <a:ea typeface="Exo 2 Medium"/>
                <a:cs typeface="Exo 2 Medium"/>
                <a:sym typeface="Exo 2 Medium"/>
              </a:rPr>
              <a:t> → run in the background (detached)</a:t>
            </a:r>
            <a:endParaRPr sz="1700">
              <a:solidFill>
                <a:schemeClr val="dk1"/>
              </a:solidFill>
              <a:latin typeface="Exo 2 Medium"/>
              <a:ea typeface="Exo 2 Medium"/>
              <a:cs typeface="Exo 2 Medium"/>
              <a:sym typeface="Exo 2 Medium"/>
            </a:endParaRPr>
          </a:p>
          <a:p>
            <a:pPr indent="0" lvl="0" marL="0" rtl="0" algn="l">
              <a:spcBef>
                <a:spcPts val="1200"/>
              </a:spcBef>
              <a:spcAft>
                <a:spcPts val="0"/>
              </a:spcAft>
              <a:buNone/>
            </a:pPr>
            <a:r>
              <a:rPr lang="en" sz="1700">
                <a:solidFill>
                  <a:srgbClr val="188038"/>
                </a:solidFill>
                <a:latin typeface="Roboto Mono"/>
                <a:ea typeface="Roboto Mono"/>
                <a:cs typeface="Roboto Mono"/>
                <a:sym typeface="Roboto Mono"/>
              </a:rPr>
              <a:t>-p hostPort:containerPort</a:t>
            </a:r>
            <a:r>
              <a:rPr lang="en" sz="1700">
                <a:solidFill>
                  <a:schemeClr val="dk1"/>
                </a:solidFill>
                <a:latin typeface="Exo 2 Medium"/>
                <a:ea typeface="Exo 2 Medium"/>
                <a:cs typeface="Exo 2 Medium"/>
                <a:sym typeface="Exo 2 Medium"/>
              </a:rPr>
              <a:t> → publish a port so you can reach the app</a:t>
            </a:r>
            <a:endParaRPr sz="1700">
              <a:solidFill>
                <a:schemeClr val="dk1"/>
              </a:solidFill>
              <a:latin typeface="Exo 2 Medium"/>
              <a:ea typeface="Exo 2 Medium"/>
              <a:cs typeface="Exo 2 Medium"/>
              <a:sym typeface="Exo 2 Medium"/>
            </a:endParaRPr>
          </a:p>
          <a:p>
            <a:pPr indent="0" lvl="0" marL="0" rtl="0" algn="l">
              <a:spcBef>
                <a:spcPts val="1200"/>
              </a:spcBef>
              <a:spcAft>
                <a:spcPts val="0"/>
              </a:spcAft>
              <a:buNone/>
            </a:pPr>
            <a:r>
              <a:rPr lang="en" sz="1700">
                <a:solidFill>
                  <a:srgbClr val="188038"/>
                </a:solidFill>
                <a:latin typeface="Roboto Mono"/>
                <a:ea typeface="Roboto Mono"/>
                <a:cs typeface="Roboto Mono"/>
                <a:sym typeface="Roboto Mono"/>
              </a:rPr>
              <a:t>--name my-container</a:t>
            </a:r>
            <a:r>
              <a:rPr lang="en" sz="1700">
                <a:solidFill>
                  <a:schemeClr val="dk1"/>
                </a:solidFill>
                <a:latin typeface="Exo 2 Medium"/>
                <a:ea typeface="Exo 2 Medium"/>
                <a:cs typeface="Exo 2 Medium"/>
                <a:sym typeface="Exo 2 Medium"/>
              </a:rPr>
              <a:t> → give the container a friendly name</a:t>
            </a:r>
            <a:endParaRPr sz="1700">
              <a:solidFill>
                <a:schemeClr val="dk1"/>
              </a:solidFill>
              <a:latin typeface="Exo 2 Medium"/>
              <a:ea typeface="Exo 2 Medium"/>
              <a:cs typeface="Exo 2 Medium"/>
              <a:sym typeface="Exo 2 Medium"/>
            </a:endParaRPr>
          </a:p>
          <a:p>
            <a:pPr indent="0" lvl="0" marL="0" rtl="0" algn="l">
              <a:spcBef>
                <a:spcPts val="1200"/>
              </a:spcBef>
              <a:spcAft>
                <a:spcPts val="0"/>
              </a:spcAft>
              <a:buNone/>
            </a:pPr>
            <a:r>
              <a:rPr lang="en" sz="1700">
                <a:solidFill>
                  <a:srgbClr val="188038"/>
                </a:solidFill>
                <a:latin typeface="Roboto Mono"/>
                <a:ea typeface="Roboto Mono"/>
                <a:cs typeface="Roboto Mono"/>
                <a:sym typeface="Roboto Mono"/>
              </a:rPr>
              <a:t>-v vault_data:/app/notes </a:t>
            </a:r>
            <a:r>
              <a:rPr lang="en" sz="1700">
                <a:solidFill>
                  <a:schemeClr val="dk1"/>
                </a:solidFill>
                <a:latin typeface="Exo 2"/>
                <a:ea typeface="Exo 2"/>
                <a:cs typeface="Exo 2"/>
                <a:sym typeface="Exo 2"/>
              </a:rPr>
              <a:t>→ attach a named volume (Docker manages the storage)</a:t>
            </a:r>
            <a:endParaRPr sz="1700">
              <a:solidFill>
                <a:schemeClr val="dk1"/>
              </a:solidFill>
              <a:latin typeface="Exo 2 Medium"/>
              <a:ea typeface="Exo 2 Medium"/>
              <a:cs typeface="Exo 2 Medium"/>
              <a:sym typeface="Exo 2 Medium"/>
            </a:endParaRPr>
          </a:p>
          <a:p>
            <a:pPr indent="0" lvl="0" marL="0" rtl="0" algn="l">
              <a:spcBef>
                <a:spcPts val="1200"/>
              </a:spcBef>
              <a:spcAft>
                <a:spcPts val="0"/>
              </a:spcAft>
              <a:buNone/>
            </a:pPr>
            <a:r>
              <a:rPr b="1" i="1" lang="en" sz="1700" u="sng">
                <a:solidFill>
                  <a:schemeClr val="dk1"/>
                </a:solidFill>
                <a:latin typeface="Exo 2"/>
                <a:ea typeface="Exo 2"/>
                <a:cs typeface="Exo 2"/>
                <a:sym typeface="Exo 2"/>
              </a:rPr>
              <a:t>Example:</a:t>
            </a:r>
            <a:endParaRPr b="1" i="1" sz="1700" u="sng">
              <a:solidFill>
                <a:schemeClr val="dk1"/>
              </a:solidFill>
              <a:latin typeface="Exo 2"/>
              <a:ea typeface="Exo 2"/>
              <a:cs typeface="Exo 2"/>
              <a:sym typeface="Exo 2"/>
            </a:endParaRPr>
          </a:p>
          <a:p>
            <a:pPr indent="0" lvl="0" marL="0" rtl="0" algn="l">
              <a:spcBef>
                <a:spcPts val="1200"/>
              </a:spcBef>
              <a:spcAft>
                <a:spcPts val="0"/>
              </a:spcAft>
              <a:buNone/>
            </a:pPr>
            <a:r>
              <a:rPr lang="en" sz="1400">
                <a:solidFill>
                  <a:srgbClr val="188038"/>
                </a:solidFill>
                <a:latin typeface="Roboto Mono"/>
                <a:ea typeface="Roboto Mono"/>
                <a:cs typeface="Roboto Mono"/>
                <a:sym typeface="Roboto Mono"/>
              </a:rPr>
              <a:t>docker run -d -p 5000:5000 -v vault_data:/app/notes --name vault my-vault</a:t>
            </a:r>
            <a:endParaRPr sz="1400">
              <a:solidFill>
                <a:schemeClr val="dk1"/>
              </a:solidFill>
              <a:latin typeface="Exo 2 Medium"/>
              <a:ea typeface="Exo 2 Medium"/>
              <a:cs typeface="Exo 2 Medium"/>
              <a:sym typeface="Exo 2 Medium"/>
            </a:endParaRPr>
          </a:p>
          <a:p>
            <a:pPr indent="0" lvl="0" marL="0" rtl="0" algn="l">
              <a:spcBef>
                <a:spcPts val="1200"/>
              </a:spcBef>
              <a:spcAft>
                <a:spcPts val="1200"/>
              </a:spcAft>
              <a:buNone/>
            </a:pPr>
            <a:r>
              <a:rPr lang="en" sz="1700">
                <a:solidFill>
                  <a:schemeClr val="dk1"/>
                </a:solidFill>
                <a:latin typeface="Exo 2 Medium"/>
                <a:ea typeface="Exo 2 Medium"/>
                <a:cs typeface="Exo 2 Medium"/>
                <a:sym typeface="Exo 2 Medium"/>
              </a:rPr>
              <a:t>Later we’ll replace -p with a Tailscale sidecar for private HTTPS access.</a:t>
            </a:r>
            <a:endParaRPr sz="1700">
              <a:solidFill>
                <a:schemeClr val="dk1"/>
              </a:solidFill>
              <a:latin typeface="Exo 2 Medium"/>
              <a:ea typeface="Exo 2 Medium"/>
              <a:cs typeface="Exo 2 Medium"/>
              <a:sym typeface="Exo 2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chivo Black"/>
                <a:ea typeface="Archivo Black"/>
                <a:cs typeface="Archivo Black"/>
                <a:sym typeface="Archivo Black"/>
              </a:rPr>
              <a:t>Creating a Custom Image: The Dockerfile</a:t>
            </a:r>
            <a:endParaRPr>
              <a:latin typeface="Archivo Black"/>
              <a:ea typeface="Archivo Black"/>
              <a:cs typeface="Archivo Black"/>
              <a:sym typeface="Archivo Black"/>
            </a:endParaRPr>
          </a:p>
        </p:txBody>
      </p:sp>
      <p:sp>
        <p:nvSpPr>
          <p:cNvPr id="114" name="Google Shape;114;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solidFill>
                  <a:schemeClr val="dk1"/>
                </a:solidFill>
                <a:latin typeface="Exo 2 Medium"/>
                <a:ea typeface="Exo 2 Medium"/>
                <a:cs typeface="Exo 2 Medium"/>
                <a:sym typeface="Exo 2 Medium"/>
              </a:rPr>
              <a:t>A Dockerfile is a text file with build instructions.</a:t>
            </a:r>
            <a:endParaRPr sz="2000">
              <a:solidFill>
                <a:schemeClr val="dk1"/>
              </a:solidFill>
              <a:latin typeface="Exo 2 Medium"/>
              <a:ea typeface="Exo 2 Medium"/>
              <a:cs typeface="Exo 2 Medium"/>
              <a:sym typeface="Exo 2 Medium"/>
            </a:endParaRPr>
          </a:p>
          <a:p>
            <a:pPr indent="0" lvl="0" marL="0" rtl="0" algn="l">
              <a:spcBef>
                <a:spcPts val="1200"/>
              </a:spcBef>
              <a:spcAft>
                <a:spcPts val="0"/>
              </a:spcAft>
              <a:buNone/>
            </a:pPr>
            <a:r>
              <a:rPr lang="en" sz="2000">
                <a:solidFill>
                  <a:schemeClr val="dk1"/>
                </a:solidFill>
                <a:latin typeface="Exo 2 Medium"/>
                <a:ea typeface="Exo 2 Medium"/>
                <a:cs typeface="Exo 2 Medium"/>
                <a:sym typeface="Exo 2 Medium"/>
              </a:rPr>
              <a:t>Common instructions:</a:t>
            </a:r>
            <a:endParaRPr sz="2000">
              <a:solidFill>
                <a:schemeClr val="dk1"/>
              </a:solidFill>
              <a:latin typeface="Exo 2 Medium"/>
              <a:ea typeface="Exo 2 Medium"/>
              <a:cs typeface="Exo 2 Medium"/>
              <a:sym typeface="Exo 2 Medium"/>
            </a:endParaRPr>
          </a:p>
          <a:p>
            <a:pPr indent="-355600" lvl="0" marL="457200" rtl="0" algn="l">
              <a:spcBef>
                <a:spcPts val="1200"/>
              </a:spcBef>
              <a:spcAft>
                <a:spcPts val="0"/>
              </a:spcAft>
              <a:buClr>
                <a:schemeClr val="dk1"/>
              </a:buClr>
              <a:buSzPts val="2000"/>
              <a:buFont typeface="Exo 2 Medium"/>
              <a:buChar char="-"/>
            </a:pPr>
            <a:r>
              <a:rPr lang="en" sz="2000">
                <a:solidFill>
                  <a:srgbClr val="188038"/>
                </a:solidFill>
                <a:latin typeface="Roboto Mono"/>
                <a:ea typeface="Roboto Mono"/>
                <a:cs typeface="Roboto Mono"/>
                <a:sym typeface="Roboto Mono"/>
              </a:rPr>
              <a:t>FROM</a:t>
            </a:r>
            <a:r>
              <a:rPr lang="en" sz="2000">
                <a:solidFill>
                  <a:schemeClr val="dk1"/>
                </a:solidFill>
                <a:latin typeface="Exo 2 Medium"/>
                <a:ea typeface="Exo 2 Medium"/>
                <a:cs typeface="Exo 2 Medium"/>
                <a:sym typeface="Exo 2 Medium"/>
              </a:rPr>
              <a:t> – base image</a:t>
            </a:r>
            <a:endParaRPr sz="2000">
              <a:solidFill>
                <a:schemeClr val="dk1"/>
              </a:solidFill>
              <a:latin typeface="Exo 2 Medium"/>
              <a:ea typeface="Exo 2 Medium"/>
              <a:cs typeface="Exo 2 Medium"/>
              <a:sym typeface="Exo 2 Medium"/>
            </a:endParaRPr>
          </a:p>
          <a:p>
            <a:pPr indent="-355600" lvl="0" marL="457200" rtl="0" algn="l">
              <a:spcBef>
                <a:spcPts val="0"/>
              </a:spcBef>
              <a:spcAft>
                <a:spcPts val="0"/>
              </a:spcAft>
              <a:buClr>
                <a:schemeClr val="dk1"/>
              </a:buClr>
              <a:buSzPts val="2000"/>
              <a:buFont typeface="Exo 2 Medium"/>
              <a:buChar char="-"/>
            </a:pPr>
            <a:r>
              <a:rPr lang="en" sz="2000">
                <a:solidFill>
                  <a:srgbClr val="188038"/>
                </a:solidFill>
                <a:latin typeface="Roboto Mono"/>
                <a:ea typeface="Roboto Mono"/>
                <a:cs typeface="Roboto Mono"/>
                <a:sym typeface="Roboto Mono"/>
              </a:rPr>
              <a:t>WORKDIR</a:t>
            </a:r>
            <a:r>
              <a:rPr lang="en" sz="2000">
                <a:solidFill>
                  <a:schemeClr val="dk1"/>
                </a:solidFill>
                <a:latin typeface="Exo 2 Medium"/>
                <a:ea typeface="Exo 2 Medium"/>
                <a:cs typeface="Exo 2 Medium"/>
                <a:sym typeface="Exo 2 Medium"/>
              </a:rPr>
              <a:t>– set working directory</a:t>
            </a:r>
            <a:endParaRPr sz="2000">
              <a:solidFill>
                <a:schemeClr val="dk1"/>
              </a:solidFill>
              <a:latin typeface="Exo 2 Medium"/>
              <a:ea typeface="Exo 2 Medium"/>
              <a:cs typeface="Exo 2 Medium"/>
              <a:sym typeface="Exo 2 Medium"/>
            </a:endParaRPr>
          </a:p>
          <a:p>
            <a:pPr indent="-355600" lvl="0" marL="457200" rtl="0" algn="l">
              <a:spcBef>
                <a:spcPts val="0"/>
              </a:spcBef>
              <a:spcAft>
                <a:spcPts val="0"/>
              </a:spcAft>
              <a:buClr>
                <a:schemeClr val="dk1"/>
              </a:buClr>
              <a:buSzPts val="2000"/>
              <a:buFont typeface="Exo 2 Medium"/>
              <a:buChar char="-"/>
            </a:pPr>
            <a:r>
              <a:rPr lang="en" sz="2000">
                <a:solidFill>
                  <a:srgbClr val="188038"/>
                </a:solidFill>
                <a:latin typeface="Roboto Mono"/>
                <a:ea typeface="Roboto Mono"/>
                <a:cs typeface="Roboto Mono"/>
                <a:sym typeface="Roboto Mono"/>
              </a:rPr>
              <a:t>COPY</a:t>
            </a:r>
            <a:r>
              <a:rPr lang="en" sz="2000">
                <a:solidFill>
                  <a:schemeClr val="dk1"/>
                </a:solidFill>
                <a:latin typeface="Exo 2 Medium"/>
                <a:ea typeface="Exo 2 Medium"/>
                <a:cs typeface="Exo 2 Medium"/>
                <a:sym typeface="Exo 2 Medium"/>
              </a:rPr>
              <a:t> – copy files from host into image</a:t>
            </a:r>
            <a:endParaRPr sz="2000">
              <a:solidFill>
                <a:schemeClr val="dk1"/>
              </a:solidFill>
              <a:latin typeface="Exo 2 Medium"/>
              <a:ea typeface="Exo 2 Medium"/>
              <a:cs typeface="Exo 2 Medium"/>
              <a:sym typeface="Exo 2 Medium"/>
            </a:endParaRPr>
          </a:p>
          <a:p>
            <a:pPr indent="-355600" lvl="0" marL="457200" rtl="0" algn="l">
              <a:spcBef>
                <a:spcPts val="0"/>
              </a:spcBef>
              <a:spcAft>
                <a:spcPts val="0"/>
              </a:spcAft>
              <a:buClr>
                <a:schemeClr val="dk1"/>
              </a:buClr>
              <a:buSzPts val="2000"/>
              <a:buFont typeface="Exo 2 Medium"/>
              <a:buChar char="-"/>
            </a:pPr>
            <a:r>
              <a:rPr lang="en" sz="2000">
                <a:solidFill>
                  <a:srgbClr val="188038"/>
                </a:solidFill>
                <a:latin typeface="Roboto Mono"/>
                <a:ea typeface="Roboto Mono"/>
                <a:cs typeface="Roboto Mono"/>
                <a:sym typeface="Roboto Mono"/>
              </a:rPr>
              <a:t>RUN</a:t>
            </a:r>
            <a:r>
              <a:rPr lang="en" sz="2000">
                <a:solidFill>
                  <a:schemeClr val="dk1"/>
                </a:solidFill>
                <a:latin typeface="Exo 2 Medium"/>
                <a:ea typeface="Exo 2 Medium"/>
                <a:cs typeface="Exo 2 Medium"/>
                <a:sym typeface="Exo 2 Medium"/>
              </a:rPr>
              <a:t> – execute a command during build</a:t>
            </a:r>
            <a:endParaRPr sz="2000">
              <a:solidFill>
                <a:schemeClr val="dk1"/>
              </a:solidFill>
              <a:latin typeface="Exo 2 Medium"/>
              <a:ea typeface="Exo 2 Medium"/>
              <a:cs typeface="Exo 2 Medium"/>
              <a:sym typeface="Exo 2 Medium"/>
            </a:endParaRPr>
          </a:p>
          <a:p>
            <a:pPr indent="-355600" lvl="0" marL="457200" rtl="0" algn="l">
              <a:spcBef>
                <a:spcPts val="0"/>
              </a:spcBef>
              <a:spcAft>
                <a:spcPts val="0"/>
              </a:spcAft>
              <a:buClr>
                <a:schemeClr val="dk1"/>
              </a:buClr>
              <a:buSzPts val="2000"/>
              <a:buFont typeface="Exo 2 Medium"/>
              <a:buChar char="-"/>
            </a:pPr>
            <a:r>
              <a:rPr lang="en" sz="2000">
                <a:solidFill>
                  <a:srgbClr val="188038"/>
                </a:solidFill>
                <a:latin typeface="Roboto Mono"/>
                <a:ea typeface="Roboto Mono"/>
                <a:cs typeface="Roboto Mono"/>
                <a:sym typeface="Roboto Mono"/>
              </a:rPr>
              <a:t>CMD</a:t>
            </a:r>
            <a:r>
              <a:rPr lang="en" sz="2000">
                <a:solidFill>
                  <a:schemeClr val="dk1"/>
                </a:solidFill>
                <a:latin typeface="Exo 2 Medium"/>
                <a:ea typeface="Exo 2 Medium"/>
                <a:cs typeface="Exo 2 Medium"/>
                <a:sym typeface="Exo 2 Medium"/>
              </a:rPr>
              <a:t> – default command to run when container starts</a:t>
            </a:r>
            <a:endParaRPr sz="2000">
              <a:solidFill>
                <a:schemeClr val="dk1"/>
              </a:solidFill>
              <a:latin typeface="Exo 2 Medium"/>
              <a:ea typeface="Exo 2 Medium"/>
              <a:cs typeface="Exo 2 Medium"/>
              <a:sym typeface="Exo 2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420">
                <a:latin typeface="Archivo Black"/>
                <a:ea typeface="Archivo Black"/>
                <a:cs typeface="Archivo Black"/>
                <a:sym typeface="Archivo Black"/>
              </a:rPr>
              <a:t>Example: Dockerfile for a Python Markdown Vault</a:t>
            </a:r>
            <a:endParaRPr sz="1920">
              <a:latin typeface="Archivo Black"/>
              <a:ea typeface="Archivo Black"/>
              <a:cs typeface="Archivo Black"/>
              <a:sym typeface="Archivo Black"/>
            </a:endParaRPr>
          </a:p>
        </p:txBody>
      </p:sp>
      <p:sp>
        <p:nvSpPr>
          <p:cNvPr id="120" name="Google Shape;120;p2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1100"/>
              <a:buFont typeface="Arial"/>
              <a:buNone/>
            </a:pPr>
            <a:r>
              <a:rPr lang="en" sz="1500">
                <a:solidFill>
                  <a:srgbClr val="188038"/>
                </a:solidFill>
                <a:latin typeface="Roboto Mono"/>
                <a:ea typeface="Roboto Mono"/>
                <a:cs typeface="Roboto Mono"/>
                <a:sym typeface="Roboto Mono"/>
              </a:rPr>
              <a:t>FROM python:3.12-slim</a:t>
            </a:r>
            <a:endParaRPr sz="1500">
              <a:solidFill>
                <a:srgbClr val="188038"/>
              </a:solidFill>
              <a:latin typeface="Roboto Mono"/>
              <a:ea typeface="Roboto Mono"/>
              <a:cs typeface="Roboto Mono"/>
              <a:sym typeface="Roboto Mono"/>
            </a:endParaRPr>
          </a:p>
          <a:p>
            <a:pPr indent="0" lvl="0" marL="0" rtl="0" algn="l">
              <a:lnSpc>
                <a:spcPct val="95000"/>
              </a:lnSpc>
              <a:spcBef>
                <a:spcPts val="1200"/>
              </a:spcBef>
              <a:spcAft>
                <a:spcPts val="0"/>
              </a:spcAft>
              <a:buClr>
                <a:schemeClr val="dk1"/>
              </a:buClr>
              <a:buSzPts val="1100"/>
              <a:buFont typeface="Arial"/>
              <a:buNone/>
            </a:pPr>
            <a:r>
              <a:rPr lang="en" sz="1500">
                <a:solidFill>
                  <a:srgbClr val="188038"/>
                </a:solidFill>
                <a:latin typeface="Roboto Mono"/>
                <a:ea typeface="Roboto Mono"/>
                <a:cs typeface="Roboto Mono"/>
                <a:sym typeface="Roboto Mono"/>
              </a:rPr>
              <a:t>WORKDIR /app</a:t>
            </a:r>
            <a:endParaRPr sz="1500">
              <a:solidFill>
                <a:srgbClr val="188038"/>
              </a:solidFill>
              <a:latin typeface="Roboto Mono"/>
              <a:ea typeface="Roboto Mono"/>
              <a:cs typeface="Roboto Mono"/>
              <a:sym typeface="Roboto Mono"/>
            </a:endParaRPr>
          </a:p>
          <a:p>
            <a:pPr indent="0" lvl="0" marL="0" rtl="0" algn="l">
              <a:lnSpc>
                <a:spcPct val="95000"/>
              </a:lnSpc>
              <a:spcBef>
                <a:spcPts val="1200"/>
              </a:spcBef>
              <a:spcAft>
                <a:spcPts val="0"/>
              </a:spcAft>
              <a:buClr>
                <a:schemeClr val="dk1"/>
              </a:buClr>
              <a:buSzPts val="1100"/>
              <a:buFont typeface="Arial"/>
              <a:buNone/>
            </a:pPr>
            <a:r>
              <a:rPr lang="en" sz="1500">
                <a:solidFill>
                  <a:srgbClr val="188038"/>
                </a:solidFill>
                <a:latin typeface="Roboto Mono"/>
                <a:ea typeface="Roboto Mono"/>
                <a:cs typeface="Roboto Mono"/>
                <a:sym typeface="Roboto Mono"/>
              </a:rPr>
              <a:t>COPY requirements.txt .</a:t>
            </a:r>
            <a:endParaRPr sz="1500">
              <a:solidFill>
                <a:srgbClr val="188038"/>
              </a:solidFill>
              <a:latin typeface="Roboto Mono"/>
              <a:ea typeface="Roboto Mono"/>
              <a:cs typeface="Roboto Mono"/>
              <a:sym typeface="Roboto Mono"/>
            </a:endParaRPr>
          </a:p>
          <a:p>
            <a:pPr indent="0" lvl="0" marL="0" rtl="0" algn="l">
              <a:lnSpc>
                <a:spcPct val="95000"/>
              </a:lnSpc>
              <a:spcBef>
                <a:spcPts val="1200"/>
              </a:spcBef>
              <a:spcAft>
                <a:spcPts val="0"/>
              </a:spcAft>
              <a:buClr>
                <a:schemeClr val="dk1"/>
              </a:buClr>
              <a:buSzPts val="1100"/>
              <a:buFont typeface="Arial"/>
              <a:buNone/>
            </a:pPr>
            <a:r>
              <a:rPr lang="en" sz="1500">
                <a:solidFill>
                  <a:srgbClr val="188038"/>
                </a:solidFill>
                <a:latin typeface="Roboto Mono"/>
                <a:ea typeface="Roboto Mono"/>
                <a:cs typeface="Roboto Mono"/>
                <a:sym typeface="Roboto Mono"/>
              </a:rPr>
              <a:t>RUN pip install --no-cache-dir -r requirements.txt</a:t>
            </a:r>
            <a:endParaRPr sz="1500">
              <a:solidFill>
                <a:srgbClr val="188038"/>
              </a:solidFill>
              <a:latin typeface="Roboto Mono"/>
              <a:ea typeface="Roboto Mono"/>
              <a:cs typeface="Roboto Mono"/>
              <a:sym typeface="Roboto Mono"/>
            </a:endParaRPr>
          </a:p>
          <a:p>
            <a:pPr indent="0" lvl="0" marL="0" rtl="0" algn="l">
              <a:lnSpc>
                <a:spcPct val="95000"/>
              </a:lnSpc>
              <a:spcBef>
                <a:spcPts val="1200"/>
              </a:spcBef>
              <a:spcAft>
                <a:spcPts val="0"/>
              </a:spcAft>
              <a:buClr>
                <a:schemeClr val="dk1"/>
              </a:buClr>
              <a:buSzPts val="1100"/>
              <a:buFont typeface="Arial"/>
              <a:buNone/>
            </a:pPr>
            <a:r>
              <a:rPr lang="en" sz="1500">
                <a:solidFill>
                  <a:srgbClr val="188038"/>
                </a:solidFill>
                <a:latin typeface="Roboto Mono"/>
                <a:ea typeface="Roboto Mono"/>
                <a:cs typeface="Roboto Mono"/>
                <a:sym typeface="Roboto Mono"/>
              </a:rPr>
              <a:t>COPY app.py .</a:t>
            </a:r>
            <a:endParaRPr sz="1500">
              <a:solidFill>
                <a:srgbClr val="188038"/>
              </a:solidFill>
              <a:latin typeface="Roboto Mono"/>
              <a:ea typeface="Roboto Mono"/>
              <a:cs typeface="Roboto Mono"/>
              <a:sym typeface="Roboto Mono"/>
            </a:endParaRPr>
          </a:p>
          <a:p>
            <a:pPr indent="0" lvl="0" marL="0" rtl="0" algn="l">
              <a:lnSpc>
                <a:spcPct val="95000"/>
              </a:lnSpc>
              <a:spcBef>
                <a:spcPts val="1200"/>
              </a:spcBef>
              <a:spcAft>
                <a:spcPts val="0"/>
              </a:spcAft>
              <a:buClr>
                <a:schemeClr val="dk1"/>
              </a:buClr>
              <a:buSzPts val="1100"/>
              <a:buFont typeface="Arial"/>
              <a:buNone/>
            </a:pPr>
            <a:r>
              <a:rPr lang="en" sz="1500">
                <a:solidFill>
                  <a:srgbClr val="188038"/>
                </a:solidFill>
                <a:latin typeface="Roboto Mono"/>
                <a:ea typeface="Roboto Mono"/>
                <a:cs typeface="Roboto Mono"/>
                <a:sym typeface="Roboto Mono"/>
              </a:rPr>
              <a:t>RUN mkdir -p /app/notes</a:t>
            </a:r>
            <a:endParaRPr sz="1500">
              <a:solidFill>
                <a:srgbClr val="188038"/>
              </a:solidFill>
              <a:latin typeface="Roboto Mono"/>
              <a:ea typeface="Roboto Mono"/>
              <a:cs typeface="Roboto Mono"/>
              <a:sym typeface="Roboto Mono"/>
            </a:endParaRPr>
          </a:p>
          <a:p>
            <a:pPr indent="0" lvl="0" marL="0" rtl="0" algn="l">
              <a:lnSpc>
                <a:spcPct val="95000"/>
              </a:lnSpc>
              <a:spcBef>
                <a:spcPts val="1200"/>
              </a:spcBef>
              <a:spcAft>
                <a:spcPts val="0"/>
              </a:spcAft>
              <a:buClr>
                <a:schemeClr val="dk1"/>
              </a:buClr>
              <a:buSzPts val="1100"/>
              <a:buFont typeface="Arial"/>
              <a:buNone/>
            </a:pPr>
            <a:r>
              <a:rPr lang="en" sz="1500">
                <a:solidFill>
                  <a:srgbClr val="188038"/>
                </a:solidFill>
                <a:latin typeface="Roboto Mono"/>
                <a:ea typeface="Roboto Mono"/>
                <a:cs typeface="Roboto Mono"/>
                <a:sym typeface="Roboto Mono"/>
              </a:rPr>
              <a:t>EXPOSE 5000</a:t>
            </a:r>
            <a:endParaRPr sz="1500">
              <a:solidFill>
                <a:srgbClr val="188038"/>
              </a:solidFill>
              <a:latin typeface="Roboto Mono"/>
              <a:ea typeface="Roboto Mono"/>
              <a:cs typeface="Roboto Mono"/>
              <a:sym typeface="Roboto Mono"/>
            </a:endParaRPr>
          </a:p>
          <a:p>
            <a:pPr indent="0" lvl="0" marL="0" rtl="0" algn="l">
              <a:lnSpc>
                <a:spcPct val="95000"/>
              </a:lnSpc>
              <a:spcBef>
                <a:spcPts val="1200"/>
              </a:spcBef>
              <a:spcAft>
                <a:spcPts val="1200"/>
              </a:spcAft>
              <a:buSzPts val="275"/>
              <a:buNone/>
            </a:pPr>
            <a:r>
              <a:rPr lang="en" sz="1500">
                <a:solidFill>
                  <a:srgbClr val="188038"/>
                </a:solidFill>
                <a:latin typeface="Roboto Mono"/>
                <a:ea typeface="Roboto Mono"/>
                <a:cs typeface="Roboto Mono"/>
                <a:sym typeface="Roboto Mono"/>
              </a:rPr>
              <a:t>CMD ["shiny", "run", "--host", "0.0.0.0", "--port", "5000", "app.py"]</a:t>
            </a:r>
            <a:endParaRPr sz="1500">
              <a:solidFill>
                <a:srgbClr val="188038"/>
              </a:solidFill>
              <a:latin typeface="Roboto Mono"/>
              <a:ea typeface="Roboto Mono"/>
              <a:cs typeface="Roboto Mono"/>
              <a:sym typeface="Roboto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chivo Black"/>
                <a:ea typeface="Archivo Black"/>
                <a:cs typeface="Archivo Black"/>
                <a:sym typeface="Archivo Black"/>
              </a:rPr>
              <a:t>Docker Compose: Multi-Container Apps</a:t>
            </a:r>
            <a:endParaRPr>
              <a:latin typeface="Archivo Black"/>
              <a:ea typeface="Archivo Black"/>
              <a:cs typeface="Archivo Black"/>
              <a:sym typeface="Archivo Black"/>
            </a:endParaRPr>
          </a:p>
        </p:txBody>
      </p:sp>
      <p:sp>
        <p:nvSpPr>
          <p:cNvPr id="126" name="Google Shape;126;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000">
                <a:solidFill>
                  <a:schemeClr val="dk1"/>
                </a:solidFill>
                <a:latin typeface="Exo 2 Medium"/>
                <a:ea typeface="Exo 2 Medium"/>
                <a:cs typeface="Exo 2 Medium"/>
                <a:sym typeface="Exo 2 Medium"/>
              </a:rPr>
              <a:t>Docker Compose defines and runs </a:t>
            </a:r>
            <a:r>
              <a:rPr lang="en" sz="2000">
                <a:solidFill>
                  <a:srgbClr val="188038"/>
                </a:solidFill>
                <a:latin typeface="Roboto Mono"/>
                <a:ea typeface="Roboto Mono"/>
                <a:cs typeface="Roboto Mono"/>
                <a:sym typeface="Roboto Mono"/>
              </a:rPr>
              <a:t>multi-container apps</a:t>
            </a:r>
            <a:r>
              <a:rPr lang="en" sz="2000">
                <a:solidFill>
                  <a:schemeClr val="dk1"/>
                </a:solidFill>
                <a:latin typeface="Exo 2 Medium"/>
                <a:ea typeface="Exo 2 Medium"/>
                <a:cs typeface="Exo 2 Medium"/>
                <a:sym typeface="Exo 2 Medium"/>
              </a:rPr>
              <a:t> from one </a:t>
            </a:r>
            <a:r>
              <a:rPr lang="en" sz="2000">
                <a:solidFill>
                  <a:srgbClr val="188038"/>
                </a:solidFill>
                <a:latin typeface="Roboto Mono"/>
                <a:ea typeface="Roboto Mono"/>
                <a:cs typeface="Roboto Mono"/>
                <a:sym typeface="Roboto Mono"/>
              </a:rPr>
              <a:t>YAML</a:t>
            </a:r>
            <a:r>
              <a:rPr lang="en" sz="2000">
                <a:solidFill>
                  <a:schemeClr val="dk1"/>
                </a:solidFill>
                <a:latin typeface="Exo 2 Medium"/>
                <a:ea typeface="Exo 2 Medium"/>
                <a:cs typeface="Exo 2 Medium"/>
                <a:sym typeface="Exo 2 Medium"/>
              </a:rPr>
              <a:t> file.</a:t>
            </a:r>
            <a:endParaRPr sz="2000">
              <a:solidFill>
                <a:schemeClr val="dk1"/>
              </a:solidFill>
              <a:latin typeface="Exo 2 Medium"/>
              <a:ea typeface="Exo 2 Medium"/>
              <a:cs typeface="Exo 2 Medium"/>
              <a:sym typeface="Exo 2 Medium"/>
            </a:endParaRPr>
          </a:p>
          <a:p>
            <a:pPr indent="-355600" lvl="0" marL="457200" rtl="0" algn="l">
              <a:spcBef>
                <a:spcPts val="1200"/>
              </a:spcBef>
              <a:spcAft>
                <a:spcPts val="0"/>
              </a:spcAft>
              <a:buClr>
                <a:schemeClr val="dk1"/>
              </a:buClr>
              <a:buSzPts val="2000"/>
              <a:buFont typeface="Exo 2 Medium"/>
              <a:buChar char="-"/>
            </a:pPr>
            <a:r>
              <a:rPr lang="en" sz="2000">
                <a:solidFill>
                  <a:schemeClr val="dk1"/>
                </a:solidFill>
                <a:latin typeface="Exo 2 Medium"/>
                <a:ea typeface="Exo 2 Medium"/>
                <a:cs typeface="Exo 2 Medium"/>
                <a:sym typeface="Exo 2 Medium"/>
              </a:rPr>
              <a:t>Default file: compose.yaml (or compose.yml)</a:t>
            </a:r>
            <a:endParaRPr sz="2000">
              <a:solidFill>
                <a:schemeClr val="dk1"/>
              </a:solidFill>
              <a:latin typeface="Exo 2 Medium"/>
              <a:ea typeface="Exo 2 Medium"/>
              <a:cs typeface="Exo 2 Medium"/>
              <a:sym typeface="Exo 2 Medium"/>
            </a:endParaRPr>
          </a:p>
          <a:p>
            <a:pPr indent="-355600" lvl="0" marL="457200" rtl="0" algn="l">
              <a:spcBef>
                <a:spcPts val="0"/>
              </a:spcBef>
              <a:spcAft>
                <a:spcPts val="0"/>
              </a:spcAft>
              <a:buClr>
                <a:schemeClr val="dk1"/>
              </a:buClr>
              <a:buSzPts val="2000"/>
              <a:buFont typeface="Exo 2 Medium"/>
              <a:buChar char="-"/>
            </a:pPr>
            <a:r>
              <a:rPr lang="en" sz="2000">
                <a:solidFill>
                  <a:schemeClr val="dk1"/>
                </a:solidFill>
                <a:latin typeface="Exo 2 Medium"/>
                <a:ea typeface="Exo 2 Medium"/>
                <a:cs typeface="Exo 2 Medium"/>
                <a:sym typeface="Exo 2 Medium"/>
              </a:rPr>
              <a:t>One command to start/stop everything</a:t>
            </a:r>
            <a:endParaRPr sz="2000">
              <a:solidFill>
                <a:schemeClr val="dk1"/>
              </a:solidFill>
              <a:latin typeface="Exo 2 Medium"/>
              <a:ea typeface="Exo 2 Medium"/>
              <a:cs typeface="Exo 2 Medium"/>
              <a:sym typeface="Exo 2 Medium"/>
            </a:endParaRPr>
          </a:p>
          <a:p>
            <a:pPr indent="-355600" lvl="0" marL="457200" rtl="0" algn="l">
              <a:spcBef>
                <a:spcPts val="0"/>
              </a:spcBef>
              <a:spcAft>
                <a:spcPts val="0"/>
              </a:spcAft>
              <a:buClr>
                <a:schemeClr val="dk1"/>
              </a:buClr>
              <a:buSzPts val="2000"/>
              <a:buFont typeface="Exo 2 Medium"/>
              <a:buChar char="-"/>
            </a:pPr>
            <a:r>
              <a:rPr lang="en" sz="2000">
                <a:solidFill>
                  <a:schemeClr val="dk1"/>
                </a:solidFill>
                <a:latin typeface="Exo 2 Medium"/>
                <a:ea typeface="Exo 2 Medium"/>
                <a:cs typeface="Exo 2 Medium"/>
                <a:sym typeface="Exo 2 Medium"/>
              </a:rPr>
              <a:t>Perfect for “app + database” or “app + cache” setups</a:t>
            </a:r>
            <a:endParaRPr sz="2000">
              <a:solidFill>
                <a:schemeClr val="dk1"/>
              </a:solidFill>
              <a:latin typeface="Exo 2 Medium"/>
              <a:ea typeface="Exo 2 Medium"/>
              <a:cs typeface="Exo 2 Medium"/>
              <a:sym typeface="Exo 2 Medium"/>
            </a:endParaRPr>
          </a:p>
          <a:p>
            <a:pPr indent="0" lvl="0" marL="0" rtl="0" algn="l">
              <a:spcBef>
                <a:spcPts val="1200"/>
              </a:spcBef>
              <a:spcAft>
                <a:spcPts val="1200"/>
              </a:spcAft>
              <a:buNone/>
            </a:pPr>
            <a:r>
              <a:rPr lang="en" sz="2000">
                <a:solidFill>
                  <a:schemeClr val="dk1"/>
                </a:solidFill>
                <a:latin typeface="Exo 2 Medium"/>
                <a:ea typeface="Exo 2 Medium"/>
                <a:cs typeface="Exo 2 Medium"/>
                <a:sym typeface="Exo 2 Medium"/>
              </a:rPr>
              <a:t>Compose can orchestrate networking sidecars like Tailscale for secure remote access.</a:t>
            </a:r>
            <a:endParaRPr sz="2000">
              <a:solidFill>
                <a:schemeClr val="dk1"/>
              </a:solidFill>
              <a:latin typeface="Exo 2 Medium"/>
              <a:ea typeface="Exo 2 Medium"/>
              <a:cs typeface="Exo 2 Medium"/>
              <a:sym typeface="Exo 2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chivo Black"/>
                <a:ea typeface="Archivo Black"/>
                <a:cs typeface="Archivo Black"/>
                <a:sym typeface="Archivo Black"/>
              </a:rPr>
              <a:t>A Minimal </a:t>
            </a:r>
            <a:r>
              <a:rPr lang="en">
                <a:solidFill>
                  <a:srgbClr val="188038"/>
                </a:solidFill>
                <a:latin typeface="Roboto Mono"/>
                <a:ea typeface="Roboto Mono"/>
                <a:cs typeface="Roboto Mono"/>
                <a:sym typeface="Roboto Mono"/>
              </a:rPr>
              <a:t>compose.yaml</a:t>
            </a:r>
            <a:r>
              <a:rPr lang="en">
                <a:latin typeface="Archivo Black"/>
                <a:ea typeface="Archivo Black"/>
                <a:cs typeface="Archivo Black"/>
                <a:sym typeface="Archivo Black"/>
              </a:rPr>
              <a:t> Example</a:t>
            </a:r>
            <a:endParaRPr>
              <a:latin typeface="Archivo Black"/>
              <a:ea typeface="Archivo Black"/>
              <a:cs typeface="Archivo Black"/>
              <a:sym typeface="Archivo Black"/>
            </a:endParaRPr>
          </a:p>
        </p:txBody>
      </p:sp>
      <p:sp>
        <p:nvSpPr>
          <p:cNvPr id="132" name="Google Shape;132;p25"/>
          <p:cNvSpPr txBox="1"/>
          <p:nvPr>
            <p:ph idx="1" type="body"/>
          </p:nvPr>
        </p:nvSpPr>
        <p:spPr>
          <a:xfrm>
            <a:off x="0" y="1152475"/>
            <a:ext cx="5081400" cy="3864900"/>
          </a:xfrm>
          <a:prstGeom prst="rect">
            <a:avLst/>
          </a:prstGeom>
        </p:spPr>
        <p:txBody>
          <a:bodyPr anchorCtr="0" anchor="t" bIns="91425" lIns="91425" spcFirstLastPara="1" rIns="91425" wrap="square" tIns="91425">
            <a:noAutofit/>
          </a:bodyPr>
          <a:lstStyle/>
          <a:p>
            <a:pPr indent="0" lvl="0" marL="0" rtl="0" algn="l">
              <a:lnSpc>
                <a:spcPct val="60000"/>
              </a:lnSpc>
              <a:spcBef>
                <a:spcPts val="0"/>
              </a:spcBef>
              <a:spcAft>
                <a:spcPts val="0"/>
              </a:spcAft>
              <a:buSzPts val="275"/>
              <a:buNone/>
            </a:pPr>
            <a:r>
              <a:rPr lang="en" sz="1050">
                <a:solidFill>
                  <a:srgbClr val="188038"/>
                </a:solidFill>
                <a:latin typeface="Roboto Mono"/>
                <a:ea typeface="Roboto Mono"/>
                <a:cs typeface="Roboto Mono"/>
                <a:sym typeface="Roboto Mono"/>
              </a:rPr>
              <a:t>services:</a:t>
            </a:r>
            <a:endParaRPr sz="1050">
              <a:solidFill>
                <a:srgbClr val="188038"/>
              </a:solidFill>
              <a:latin typeface="Roboto Mono"/>
              <a:ea typeface="Roboto Mono"/>
              <a:cs typeface="Roboto Mono"/>
              <a:sym typeface="Roboto Mono"/>
            </a:endParaRPr>
          </a:p>
          <a:p>
            <a:pPr indent="0" lvl="0" marL="0" rtl="0" algn="l">
              <a:lnSpc>
                <a:spcPct val="60000"/>
              </a:lnSpc>
              <a:spcBef>
                <a:spcPts val="1200"/>
              </a:spcBef>
              <a:spcAft>
                <a:spcPts val="0"/>
              </a:spcAft>
              <a:buSzPts val="275"/>
              <a:buNone/>
            </a:pPr>
            <a:r>
              <a:rPr lang="en" sz="1050">
                <a:solidFill>
                  <a:srgbClr val="188038"/>
                </a:solidFill>
                <a:latin typeface="Roboto Mono"/>
                <a:ea typeface="Roboto Mono"/>
                <a:cs typeface="Roboto Mono"/>
                <a:sym typeface="Roboto Mono"/>
              </a:rPr>
              <a:t>  vault:</a:t>
            </a:r>
            <a:endParaRPr sz="1050">
              <a:solidFill>
                <a:srgbClr val="188038"/>
              </a:solidFill>
              <a:latin typeface="Roboto Mono"/>
              <a:ea typeface="Roboto Mono"/>
              <a:cs typeface="Roboto Mono"/>
              <a:sym typeface="Roboto Mono"/>
            </a:endParaRPr>
          </a:p>
          <a:p>
            <a:pPr indent="0" lvl="0" marL="0" rtl="0" algn="l">
              <a:lnSpc>
                <a:spcPct val="60000"/>
              </a:lnSpc>
              <a:spcBef>
                <a:spcPts val="1200"/>
              </a:spcBef>
              <a:spcAft>
                <a:spcPts val="0"/>
              </a:spcAft>
              <a:buSzPts val="275"/>
              <a:buNone/>
            </a:pPr>
            <a:r>
              <a:rPr lang="en" sz="1050">
                <a:solidFill>
                  <a:srgbClr val="188038"/>
                </a:solidFill>
                <a:latin typeface="Roboto Mono"/>
                <a:ea typeface="Roboto Mono"/>
                <a:cs typeface="Roboto Mono"/>
                <a:sym typeface="Roboto Mono"/>
              </a:rPr>
              <a:t>    build: .</a:t>
            </a:r>
            <a:endParaRPr sz="1050">
              <a:solidFill>
                <a:srgbClr val="188038"/>
              </a:solidFill>
              <a:latin typeface="Roboto Mono"/>
              <a:ea typeface="Roboto Mono"/>
              <a:cs typeface="Roboto Mono"/>
              <a:sym typeface="Roboto Mono"/>
            </a:endParaRPr>
          </a:p>
          <a:p>
            <a:pPr indent="0" lvl="0" marL="0" rtl="0" algn="l">
              <a:lnSpc>
                <a:spcPct val="60000"/>
              </a:lnSpc>
              <a:spcBef>
                <a:spcPts val="1200"/>
              </a:spcBef>
              <a:spcAft>
                <a:spcPts val="0"/>
              </a:spcAft>
              <a:buSzPts val="275"/>
              <a:buNone/>
            </a:pPr>
            <a:r>
              <a:rPr lang="en" sz="1050">
                <a:solidFill>
                  <a:srgbClr val="188038"/>
                </a:solidFill>
                <a:latin typeface="Roboto Mono"/>
                <a:ea typeface="Roboto Mono"/>
                <a:cs typeface="Roboto Mono"/>
                <a:sym typeface="Roboto Mono"/>
              </a:rPr>
              <a:t>    volumes:</a:t>
            </a:r>
            <a:endParaRPr sz="1050">
              <a:solidFill>
                <a:srgbClr val="188038"/>
              </a:solidFill>
              <a:latin typeface="Roboto Mono"/>
              <a:ea typeface="Roboto Mono"/>
              <a:cs typeface="Roboto Mono"/>
              <a:sym typeface="Roboto Mono"/>
            </a:endParaRPr>
          </a:p>
          <a:p>
            <a:pPr indent="0" lvl="0" marL="0" rtl="0" algn="l">
              <a:lnSpc>
                <a:spcPct val="60000"/>
              </a:lnSpc>
              <a:spcBef>
                <a:spcPts val="1200"/>
              </a:spcBef>
              <a:spcAft>
                <a:spcPts val="0"/>
              </a:spcAft>
              <a:buSzPts val="275"/>
              <a:buNone/>
            </a:pPr>
            <a:r>
              <a:rPr lang="en" sz="1050">
                <a:solidFill>
                  <a:srgbClr val="188038"/>
                </a:solidFill>
                <a:latin typeface="Roboto Mono"/>
                <a:ea typeface="Roboto Mono"/>
                <a:cs typeface="Roboto Mono"/>
                <a:sym typeface="Roboto Mono"/>
              </a:rPr>
              <a:t>      - vault_data:/app/notes</a:t>
            </a:r>
            <a:endParaRPr sz="1050">
              <a:solidFill>
                <a:srgbClr val="188038"/>
              </a:solidFill>
              <a:latin typeface="Roboto Mono"/>
              <a:ea typeface="Roboto Mono"/>
              <a:cs typeface="Roboto Mono"/>
              <a:sym typeface="Roboto Mono"/>
            </a:endParaRPr>
          </a:p>
          <a:p>
            <a:pPr indent="0" lvl="0" marL="0" rtl="0" algn="l">
              <a:lnSpc>
                <a:spcPct val="60000"/>
              </a:lnSpc>
              <a:spcBef>
                <a:spcPts val="1200"/>
              </a:spcBef>
              <a:spcAft>
                <a:spcPts val="0"/>
              </a:spcAft>
              <a:buSzPts val="275"/>
              <a:buNone/>
            </a:pPr>
            <a:r>
              <a:rPr lang="en" sz="1050">
                <a:solidFill>
                  <a:srgbClr val="188038"/>
                </a:solidFill>
                <a:latin typeface="Roboto Mono"/>
                <a:ea typeface="Roboto Mono"/>
                <a:cs typeface="Roboto Mono"/>
                <a:sym typeface="Roboto Mono"/>
              </a:rPr>
              <a:t>    expose:</a:t>
            </a:r>
            <a:endParaRPr sz="1050">
              <a:solidFill>
                <a:srgbClr val="188038"/>
              </a:solidFill>
              <a:latin typeface="Roboto Mono"/>
              <a:ea typeface="Roboto Mono"/>
              <a:cs typeface="Roboto Mono"/>
              <a:sym typeface="Roboto Mono"/>
            </a:endParaRPr>
          </a:p>
          <a:p>
            <a:pPr indent="0" lvl="0" marL="0" rtl="0" algn="l">
              <a:lnSpc>
                <a:spcPct val="60000"/>
              </a:lnSpc>
              <a:spcBef>
                <a:spcPts val="1200"/>
              </a:spcBef>
              <a:spcAft>
                <a:spcPts val="0"/>
              </a:spcAft>
              <a:buSzPts val="275"/>
              <a:buNone/>
            </a:pPr>
            <a:r>
              <a:rPr lang="en" sz="1050">
                <a:solidFill>
                  <a:srgbClr val="188038"/>
                </a:solidFill>
                <a:latin typeface="Roboto Mono"/>
                <a:ea typeface="Roboto Mono"/>
                <a:cs typeface="Roboto Mono"/>
                <a:sym typeface="Roboto Mono"/>
              </a:rPr>
              <a:t>      - "5000"</a:t>
            </a:r>
            <a:endParaRPr sz="1050">
              <a:solidFill>
                <a:srgbClr val="188038"/>
              </a:solidFill>
              <a:latin typeface="Roboto Mono"/>
              <a:ea typeface="Roboto Mono"/>
              <a:cs typeface="Roboto Mono"/>
              <a:sym typeface="Roboto Mono"/>
            </a:endParaRPr>
          </a:p>
          <a:p>
            <a:pPr indent="0" lvl="0" marL="0" rtl="0" algn="l">
              <a:lnSpc>
                <a:spcPct val="60000"/>
              </a:lnSpc>
              <a:spcBef>
                <a:spcPts val="1200"/>
              </a:spcBef>
              <a:spcAft>
                <a:spcPts val="0"/>
              </a:spcAft>
              <a:buSzPts val="275"/>
              <a:buNone/>
            </a:pPr>
            <a:r>
              <a:rPr lang="en" sz="1050">
                <a:solidFill>
                  <a:srgbClr val="188038"/>
                </a:solidFill>
                <a:latin typeface="Roboto Mono"/>
                <a:ea typeface="Roboto Mono"/>
                <a:cs typeface="Roboto Mono"/>
                <a:sym typeface="Roboto Mono"/>
              </a:rPr>
              <a:t>  caddy:</a:t>
            </a:r>
            <a:endParaRPr sz="1050">
              <a:solidFill>
                <a:srgbClr val="188038"/>
              </a:solidFill>
              <a:latin typeface="Roboto Mono"/>
              <a:ea typeface="Roboto Mono"/>
              <a:cs typeface="Roboto Mono"/>
              <a:sym typeface="Roboto Mono"/>
            </a:endParaRPr>
          </a:p>
          <a:p>
            <a:pPr indent="0" lvl="0" marL="0" rtl="0" algn="l">
              <a:lnSpc>
                <a:spcPct val="60000"/>
              </a:lnSpc>
              <a:spcBef>
                <a:spcPts val="1200"/>
              </a:spcBef>
              <a:spcAft>
                <a:spcPts val="0"/>
              </a:spcAft>
              <a:buSzPts val="275"/>
              <a:buNone/>
            </a:pPr>
            <a:r>
              <a:rPr lang="en" sz="1050">
                <a:solidFill>
                  <a:srgbClr val="188038"/>
                </a:solidFill>
                <a:latin typeface="Roboto Mono"/>
                <a:ea typeface="Roboto Mono"/>
                <a:cs typeface="Roboto Mono"/>
                <a:sym typeface="Roboto Mono"/>
              </a:rPr>
              <a:t>    image: caddy:2-alpine</a:t>
            </a:r>
            <a:endParaRPr sz="1050">
              <a:solidFill>
                <a:srgbClr val="188038"/>
              </a:solidFill>
              <a:latin typeface="Roboto Mono"/>
              <a:ea typeface="Roboto Mono"/>
              <a:cs typeface="Roboto Mono"/>
              <a:sym typeface="Roboto Mono"/>
            </a:endParaRPr>
          </a:p>
          <a:p>
            <a:pPr indent="0" lvl="0" marL="0" rtl="0" algn="l">
              <a:lnSpc>
                <a:spcPct val="60000"/>
              </a:lnSpc>
              <a:spcBef>
                <a:spcPts val="1200"/>
              </a:spcBef>
              <a:spcAft>
                <a:spcPts val="0"/>
              </a:spcAft>
              <a:buSzPts val="275"/>
              <a:buNone/>
            </a:pPr>
            <a:r>
              <a:rPr lang="en" sz="1050">
                <a:solidFill>
                  <a:srgbClr val="188038"/>
                </a:solidFill>
                <a:latin typeface="Roboto Mono"/>
                <a:ea typeface="Roboto Mono"/>
                <a:cs typeface="Roboto Mono"/>
                <a:sym typeface="Roboto Mono"/>
              </a:rPr>
              <a:t>    command: caddy reverse-proxy --from :80 --to vault:5000</a:t>
            </a:r>
            <a:endParaRPr sz="1050">
              <a:solidFill>
                <a:srgbClr val="188038"/>
              </a:solidFill>
              <a:latin typeface="Roboto Mono"/>
              <a:ea typeface="Roboto Mono"/>
              <a:cs typeface="Roboto Mono"/>
              <a:sym typeface="Roboto Mono"/>
            </a:endParaRPr>
          </a:p>
          <a:p>
            <a:pPr indent="0" lvl="0" marL="0" rtl="0" algn="l">
              <a:lnSpc>
                <a:spcPct val="60000"/>
              </a:lnSpc>
              <a:spcBef>
                <a:spcPts val="1200"/>
              </a:spcBef>
              <a:spcAft>
                <a:spcPts val="0"/>
              </a:spcAft>
              <a:buSzPts val="275"/>
              <a:buNone/>
            </a:pPr>
            <a:r>
              <a:rPr lang="en" sz="1050">
                <a:solidFill>
                  <a:srgbClr val="188038"/>
                </a:solidFill>
                <a:latin typeface="Roboto Mono"/>
                <a:ea typeface="Roboto Mono"/>
                <a:cs typeface="Roboto Mono"/>
                <a:sym typeface="Roboto Mono"/>
              </a:rPr>
              <a:t>    expose:</a:t>
            </a:r>
            <a:endParaRPr sz="1050">
              <a:solidFill>
                <a:srgbClr val="188038"/>
              </a:solidFill>
              <a:latin typeface="Roboto Mono"/>
              <a:ea typeface="Roboto Mono"/>
              <a:cs typeface="Roboto Mono"/>
              <a:sym typeface="Roboto Mono"/>
            </a:endParaRPr>
          </a:p>
          <a:p>
            <a:pPr indent="0" lvl="0" marL="0" rtl="0" algn="l">
              <a:lnSpc>
                <a:spcPct val="60000"/>
              </a:lnSpc>
              <a:spcBef>
                <a:spcPts val="1200"/>
              </a:spcBef>
              <a:spcAft>
                <a:spcPts val="0"/>
              </a:spcAft>
              <a:buSzPts val="275"/>
              <a:buNone/>
            </a:pPr>
            <a:r>
              <a:rPr lang="en" sz="1050">
                <a:solidFill>
                  <a:srgbClr val="188038"/>
                </a:solidFill>
                <a:latin typeface="Roboto Mono"/>
                <a:ea typeface="Roboto Mono"/>
                <a:cs typeface="Roboto Mono"/>
                <a:sym typeface="Roboto Mono"/>
              </a:rPr>
              <a:t>      - "80"</a:t>
            </a:r>
            <a:endParaRPr sz="1050">
              <a:solidFill>
                <a:srgbClr val="188038"/>
              </a:solidFill>
              <a:latin typeface="Roboto Mono"/>
              <a:ea typeface="Roboto Mono"/>
              <a:cs typeface="Roboto Mono"/>
              <a:sym typeface="Roboto Mono"/>
            </a:endParaRPr>
          </a:p>
          <a:p>
            <a:pPr indent="0" lvl="0" marL="0" rtl="0" algn="l">
              <a:lnSpc>
                <a:spcPct val="60000"/>
              </a:lnSpc>
              <a:spcBef>
                <a:spcPts val="1200"/>
              </a:spcBef>
              <a:spcAft>
                <a:spcPts val="0"/>
              </a:spcAft>
              <a:buSzPts val="275"/>
              <a:buNone/>
            </a:pPr>
            <a:r>
              <a:rPr lang="en" sz="1050">
                <a:solidFill>
                  <a:srgbClr val="188038"/>
                </a:solidFill>
                <a:latin typeface="Roboto Mono"/>
                <a:ea typeface="Roboto Mono"/>
                <a:cs typeface="Roboto Mono"/>
                <a:sym typeface="Roboto Mono"/>
              </a:rPr>
              <a:t>    depends_on:</a:t>
            </a:r>
            <a:endParaRPr sz="1050">
              <a:solidFill>
                <a:srgbClr val="188038"/>
              </a:solidFill>
              <a:latin typeface="Roboto Mono"/>
              <a:ea typeface="Roboto Mono"/>
              <a:cs typeface="Roboto Mono"/>
              <a:sym typeface="Roboto Mono"/>
            </a:endParaRPr>
          </a:p>
          <a:p>
            <a:pPr indent="0" lvl="0" marL="0" rtl="0" algn="l">
              <a:lnSpc>
                <a:spcPct val="60000"/>
              </a:lnSpc>
              <a:spcBef>
                <a:spcPts val="1200"/>
              </a:spcBef>
              <a:spcAft>
                <a:spcPts val="0"/>
              </a:spcAft>
              <a:buSzPts val="275"/>
              <a:buNone/>
            </a:pPr>
            <a:r>
              <a:rPr lang="en" sz="1050">
                <a:solidFill>
                  <a:srgbClr val="188038"/>
                </a:solidFill>
                <a:latin typeface="Roboto Mono"/>
                <a:ea typeface="Roboto Mono"/>
                <a:cs typeface="Roboto Mono"/>
                <a:sym typeface="Roboto Mono"/>
              </a:rPr>
              <a:t>      - vault</a:t>
            </a:r>
            <a:endParaRPr sz="1050">
              <a:solidFill>
                <a:srgbClr val="188038"/>
              </a:solidFill>
              <a:latin typeface="Roboto Mono"/>
              <a:ea typeface="Roboto Mono"/>
              <a:cs typeface="Roboto Mono"/>
              <a:sym typeface="Roboto Mono"/>
            </a:endParaRPr>
          </a:p>
          <a:p>
            <a:pPr indent="0" lvl="0" marL="0" rtl="0" algn="l">
              <a:lnSpc>
                <a:spcPct val="60000"/>
              </a:lnSpc>
              <a:spcBef>
                <a:spcPts val="1200"/>
              </a:spcBef>
              <a:spcAft>
                <a:spcPts val="1200"/>
              </a:spcAft>
              <a:buSzPts val="275"/>
              <a:buNone/>
            </a:pPr>
            <a:r>
              <a:t/>
            </a:r>
            <a:endParaRPr sz="1150">
              <a:solidFill>
                <a:srgbClr val="188038"/>
              </a:solidFill>
              <a:latin typeface="Roboto Mono"/>
              <a:ea typeface="Roboto Mono"/>
              <a:cs typeface="Roboto Mono"/>
              <a:sym typeface="Roboto Mono"/>
            </a:endParaRPr>
          </a:p>
        </p:txBody>
      </p:sp>
      <p:sp>
        <p:nvSpPr>
          <p:cNvPr id="133" name="Google Shape;133;p25"/>
          <p:cNvSpPr txBox="1"/>
          <p:nvPr/>
        </p:nvSpPr>
        <p:spPr>
          <a:xfrm>
            <a:off x="4869900" y="1136275"/>
            <a:ext cx="4274100" cy="3897300"/>
          </a:xfrm>
          <a:prstGeom prst="rect">
            <a:avLst/>
          </a:prstGeom>
          <a:noFill/>
          <a:ln>
            <a:noFill/>
          </a:ln>
        </p:spPr>
        <p:txBody>
          <a:bodyPr anchorCtr="0" anchor="t" bIns="91425" lIns="91425" spcFirstLastPara="1" rIns="91425" wrap="square" tIns="91425">
            <a:spAutoFit/>
          </a:bodyPr>
          <a:lstStyle/>
          <a:p>
            <a:pPr indent="0" lvl="0" marL="0" rtl="0" algn="l">
              <a:lnSpc>
                <a:spcPct val="60000"/>
              </a:lnSpc>
              <a:spcBef>
                <a:spcPts val="0"/>
              </a:spcBef>
              <a:spcAft>
                <a:spcPts val="0"/>
              </a:spcAft>
              <a:buClr>
                <a:schemeClr val="dk1"/>
              </a:buClr>
              <a:buSzPts val="275"/>
              <a:buFont typeface="Arial"/>
              <a:buNone/>
            </a:pPr>
            <a:r>
              <a:rPr lang="en" sz="950">
                <a:solidFill>
                  <a:srgbClr val="188038"/>
                </a:solidFill>
                <a:latin typeface="Roboto Mono"/>
                <a:ea typeface="Roboto Mono"/>
                <a:cs typeface="Roboto Mono"/>
                <a:sym typeface="Roboto Mono"/>
              </a:rPr>
              <a:t> tailscale:</a:t>
            </a:r>
            <a:endParaRPr sz="950">
              <a:solidFill>
                <a:srgbClr val="188038"/>
              </a:solidFill>
              <a:latin typeface="Roboto Mono"/>
              <a:ea typeface="Roboto Mono"/>
              <a:cs typeface="Roboto Mono"/>
              <a:sym typeface="Roboto Mono"/>
            </a:endParaRPr>
          </a:p>
          <a:p>
            <a:pPr indent="0" lvl="0" marL="0" rtl="0" algn="l">
              <a:lnSpc>
                <a:spcPct val="60000"/>
              </a:lnSpc>
              <a:spcBef>
                <a:spcPts val="1200"/>
              </a:spcBef>
              <a:spcAft>
                <a:spcPts val="0"/>
              </a:spcAft>
              <a:buClr>
                <a:schemeClr val="dk1"/>
              </a:buClr>
              <a:buSzPts val="275"/>
              <a:buFont typeface="Arial"/>
              <a:buNone/>
            </a:pPr>
            <a:r>
              <a:rPr lang="en" sz="950">
                <a:solidFill>
                  <a:srgbClr val="188038"/>
                </a:solidFill>
                <a:latin typeface="Roboto Mono"/>
                <a:ea typeface="Roboto Mono"/>
                <a:cs typeface="Roboto Mono"/>
                <a:sym typeface="Roboto Mono"/>
              </a:rPr>
              <a:t>    image: tailscale/tailscale:latest</a:t>
            </a:r>
            <a:endParaRPr sz="950">
              <a:solidFill>
                <a:srgbClr val="188038"/>
              </a:solidFill>
              <a:latin typeface="Roboto Mono"/>
              <a:ea typeface="Roboto Mono"/>
              <a:cs typeface="Roboto Mono"/>
              <a:sym typeface="Roboto Mono"/>
            </a:endParaRPr>
          </a:p>
          <a:p>
            <a:pPr indent="0" lvl="0" marL="0" rtl="0" algn="l">
              <a:lnSpc>
                <a:spcPct val="60000"/>
              </a:lnSpc>
              <a:spcBef>
                <a:spcPts val="1200"/>
              </a:spcBef>
              <a:spcAft>
                <a:spcPts val="0"/>
              </a:spcAft>
              <a:buClr>
                <a:schemeClr val="dk1"/>
              </a:buClr>
              <a:buSzPts val="275"/>
              <a:buFont typeface="Arial"/>
              <a:buNone/>
            </a:pPr>
            <a:r>
              <a:rPr lang="en" sz="950">
                <a:solidFill>
                  <a:srgbClr val="188038"/>
                </a:solidFill>
                <a:latin typeface="Roboto Mono"/>
                <a:ea typeface="Roboto Mono"/>
                <a:cs typeface="Roboto Mono"/>
                <a:sym typeface="Roboto Mono"/>
              </a:rPr>
              <a:t>    environment:</a:t>
            </a:r>
            <a:endParaRPr sz="950">
              <a:solidFill>
                <a:srgbClr val="188038"/>
              </a:solidFill>
              <a:latin typeface="Roboto Mono"/>
              <a:ea typeface="Roboto Mono"/>
              <a:cs typeface="Roboto Mono"/>
              <a:sym typeface="Roboto Mono"/>
            </a:endParaRPr>
          </a:p>
          <a:p>
            <a:pPr indent="0" lvl="0" marL="0" rtl="0" algn="l">
              <a:lnSpc>
                <a:spcPct val="60000"/>
              </a:lnSpc>
              <a:spcBef>
                <a:spcPts val="1200"/>
              </a:spcBef>
              <a:spcAft>
                <a:spcPts val="0"/>
              </a:spcAft>
              <a:buClr>
                <a:schemeClr val="dk1"/>
              </a:buClr>
              <a:buSzPts val="275"/>
              <a:buFont typeface="Arial"/>
              <a:buNone/>
            </a:pPr>
            <a:r>
              <a:rPr lang="en" sz="950">
                <a:solidFill>
                  <a:srgbClr val="188038"/>
                </a:solidFill>
                <a:latin typeface="Roboto Mono"/>
                <a:ea typeface="Roboto Mono"/>
                <a:cs typeface="Roboto Mono"/>
                <a:sym typeface="Roboto Mono"/>
              </a:rPr>
              <a:t>      - TS_CLIENT_ID=${TS_CLIENT_ID}</a:t>
            </a:r>
            <a:endParaRPr sz="950">
              <a:solidFill>
                <a:srgbClr val="188038"/>
              </a:solidFill>
              <a:latin typeface="Roboto Mono"/>
              <a:ea typeface="Roboto Mono"/>
              <a:cs typeface="Roboto Mono"/>
              <a:sym typeface="Roboto Mono"/>
            </a:endParaRPr>
          </a:p>
          <a:p>
            <a:pPr indent="0" lvl="0" marL="0" rtl="0" algn="l">
              <a:lnSpc>
                <a:spcPct val="60000"/>
              </a:lnSpc>
              <a:spcBef>
                <a:spcPts val="1200"/>
              </a:spcBef>
              <a:spcAft>
                <a:spcPts val="0"/>
              </a:spcAft>
              <a:buClr>
                <a:schemeClr val="dk1"/>
              </a:buClr>
              <a:buSzPts val="275"/>
              <a:buFont typeface="Arial"/>
              <a:buNone/>
            </a:pPr>
            <a:r>
              <a:rPr lang="en" sz="950">
                <a:solidFill>
                  <a:srgbClr val="188038"/>
                </a:solidFill>
                <a:latin typeface="Roboto Mono"/>
                <a:ea typeface="Roboto Mono"/>
                <a:cs typeface="Roboto Mono"/>
                <a:sym typeface="Roboto Mono"/>
              </a:rPr>
              <a:t>      - TS_CLIENT_SECRET=${TS_CLIENT_SECRET}</a:t>
            </a:r>
            <a:endParaRPr sz="950">
              <a:solidFill>
                <a:srgbClr val="188038"/>
              </a:solidFill>
              <a:latin typeface="Roboto Mono"/>
              <a:ea typeface="Roboto Mono"/>
              <a:cs typeface="Roboto Mono"/>
              <a:sym typeface="Roboto Mono"/>
            </a:endParaRPr>
          </a:p>
          <a:p>
            <a:pPr indent="0" lvl="0" marL="0" rtl="0" algn="l">
              <a:lnSpc>
                <a:spcPct val="60000"/>
              </a:lnSpc>
              <a:spcBef>
                <a:spcPts val="1200"/>
              </a:spcBef>
              <a:spcAft>
                <a:spcPts val="0"/>
              </a:spcAft>
              <a:buClr>
                <a:schemeClr val="dk1"/>
              </a:buClr>
              <a:buSzPts val="275"/>
              <a:buFont typeface="Arial"/>
              <a:buNone/>
            </a:pPr>
            <a:r>
              <a:rPr lang="en" sz="950">
                <a:solidFill>
                  <a:srgbClr val="188038"/>
                </a:solidFill>
                <a:latin typeface="Roboto Mono"/>
                <a:ea typeface="Roboto Mono"/>
                <a:cs typeface="Roboto Mono"/>
                <a:sym typeface="Roboto Mono"/>
              </a:rPr>
              <a:t>      - TS_EXTRA_ARGS=--advertise-tags=tag:container</a:t>
            </a:r>
            <a:endParaRPr sz="950">
              <a:solidFill>
                <a:srgbClr val="188038"/>
              </a:solidFill>
              <a:latin typeface="Roboto Mono"/>
              <a:ea typeface="Roboto Mono"/>
              <a:cs typeface="Roboto Mono"/>
              <a:sym typeface="Roboto Mono"/>
            </a:endParaRPr>
          </a:p>
          <a:p>
            <a:pPr indent="0" lvl="0" marL="0" rtl="0" algn="l">
              <a:lnSpc>
                <a:spcPct val="60000"/>
              </a:lnSpc>
              <a:spcBef>
                <a:spcPts val="1200"/>
              </a:spcBef>
              <a:spcAft>
                <a:spcPts val="0"/>
              </a:spcAft>
              <a:buClr>
                <a:schemeClr val="dk1"/>
              </a:buClr>
              <a:buSzPts val="275"/>
              <a:buFont typeface="Arial"/>
              <a:buNone/>
            </a:pPr>
            <a:r>
              <a:rPr lang="en" sz="950">
                <a:solidFill>
                  <a:srgbClr val="188038"/>
                </a:solidFill>
                <a:latin typeface="Roboto Mono"/>
                <a:ea typeface="Roboto Mono"/>
                <a:cs typeface="Roboto Mono"/>
                <a:sym typeface="Roboto Mono"/>
              </a:rPr>
              <a:t>      - TS_STATE_DIR=/var/lib/tailscale</a:t>
            </a:r>
            <a:endParaRPr sz="950">
              <a:solidFill>
                <a:srgbClr val="188038"/>
              </a:solidFill>
              <a:latin typeface="Roboto Mono"/>
              <a:ea typeface="Roboto Mono"/>
              <a:cs typeface="Roboto Mono"/>
              <a:sym typeface="Roboto Mono"/>
            </a:endParaRPr>
          </a:p>
          <a:p>
            <a:pPr indent="0" lvl="0" marL="0" rtl="0" algn="l">
              <a:lnSpc>
                <a:spcPct val="60000"/>
              </a:lnSpc>
              <a:spcBef>
                <a:spcPts val="1200"/>
              </a:spcBef>
              <a:spcAft>
                <a:spcPts val="0"/>
              </a:spcAft>
              <a:buClr>
                <a:schemeClr val="dk1"/>
              </a:buClr>
              <a:buSzPts val="275"/>
              <a:buFont typeface="Arial"/>
              <a:buNone/>
            </a:pPr>
            <a:r>
              <a:rPr lang="en" sz="950">
                <a:solidFill>
                  <a:srgbClr val="188038"/>
                </a:solidFill>
                <a:latin typeface="Roboto Mono"/>
                <a:ea typeface="Roboto Mono"/>
                <a:cs typeface="Roboto Mono"/>
                <a:sym typeface="Roboto Mono"/>
              </a:rPr>
              <a:t>      - TS_SERVE_CONFIG=/config/serve.json</a:t>
            </a:r>
            <a:endParaRPr sz="950">
              <a:solidFill>
                <a:srgbClr val="188038"/>
              </a:solidFill>
              <a:latin typeface="Roboto Mono"/>
              <a:ea typeface="Roboto Mono"/>
              <a:cs typeface="Roboto Mono"/>
              <a:sym typeface="Roboto Mono"/>
            </a:endParaRPr>
          </a:p>
          <a:p>
            <a:pPr indent="0" lvl="0" marL="0" rtl="0" algn="l">
              <a:lnSpc>
                <a:spcPct val="60000"/>
              </a:lnSpc>
              <a:spcBef>
                <a:spcPts val="1200"/>
              </a:spcBef>
              <a:spcAft>
                <a:spcPts val="0"/>
              </a:spcAft>
              <a:buClr>
                <a:schemeClr val="dk1"/>
              </a:buClr>
              <a:buSzPts val="275"/>
              <a:buFont typeface="Arial"/>
              <a:buNone/>
            </a:pPr>
            <a:r>
              <a:rPr lang="en" sz="950">
                <a:solidFill>
                  <a:srgbClr val="188038"/>
                </a:solidFill>
                <a:latin typeface="Roboto Mono"/>
                <a:ea typeface="Roboto Mono"/>
                <a:cs typeface="Roboto Mono"/>
                <a:sym typeface="Roboto Mono"/>
              </a:rPr>
              <a:t>    volumes:</a:t>
            </a:r>
            <a:endParaRPr sz="950">
              <a:solidFill>
                <a:srgbClr val="188038"/>
              </a:solidFill>
              <a:latin typeface="Roboto Mono"/>
              <a:ea typeface="Roboto Mono"/>
              <a:cs typeface="Roboto Mono"/>
              <a:sym typeface="Roboto Mono"/>
            </a:endParaRPr>
          </a:p>
          <a:p>
            <a:pPr indent="0" lvl="0" marL="0" rtl="0" algn="l">
              <a:lnSpc>
                <a:spcPct val="60000"/>
              </a:lnSpc>
              <a:spcBef>
                <a:spcPts val="1200"/>
              </a:spcBef>
              <a:spcAft>
                <a:spcPts val="0"/>
              </a:spcAft>
              <a:buClr>
                <a:schemeClr val="dk1"/>
              </a:buClr>
              <a:buSzPts val="275"/>
              <a:buFont typeface="Arial"/>
              <a:buNone/>
            </a:pPr>
            <a:r>
              <a:rPr lang="en" sz="950">
                <a:solidFill>
                  <a:srgbClr val="188038"/>
                </a:solidFill>
                <a:latin typeface="Roboto Mono"/>
                <a:ea typeface="Roboto Mono"/>
                <a:cs typeface="Roboto Mono"/>
                <a:sym typeface="Roboto Mono"/>
              </a:rPr>
              <a:t>      - tailscale_state:/var/lib/tailscale</a:t>
            </a:r>
            <a:endParaRPr sz="950">
              <a:solidFill>
                <a:srgbClr val="188038"/>
              </a:solidFill>
              <a:latin typeface="Roboto Mono"/>
              <a:ea typeface="Roboto Mono"/>
              <a:cs typeface="Roboto Mono"/>
              <a:sym typeface="Roboto Mono"/>
            </a:endParaRPr>
          </a:p>
          <a:p>
            <a:pPr indent="0" lvl="0" marL="0" rtl="0" algn="l">
              <a:lnSpc>
                <a:spcPct val="60000"/>
              </a:lnSpc>
              <a:spcBef>
                <a:spcPts val="1200"/>
              </a:spcBef>
              <a:spcAft>
                <a:spcPts val="0"/>
              </a:spcAft>
              <a:buClr>
                <a:schemeClr val="dk1"/>
              </a:buClr>
              <a:buSzPts val="275"/>
              <a:buFont typeface="Arial"/>
              <a:buNone/>
            </a:pPr>
            <a:r>
              <a:rPr lang="en" sz="950">
                <a:solidFill>
                  <a:srgbClr val="188038"/>
                </a:solidFill>
                <a:latin typeface="Roboto Mono"/>
                <a:ea typeface="Roboto Mono"/>
                <a:cs typeface="Roboto Mono"/>
                <a:sym typeface="Roboto Mono"/>
              </a:rPr>
              <a:t>      - ./serve.json:/config/serve.json:ro</a:t>
            </a:r>
            <a:endParaRPr sz="950">
              <a:solidFill>
                <a:srgbClr val="188038"/>
              </a:solidFill>
              <a:latin typeface="Roboto Mono"/>
              <a:ea typeface="Roboto Mono"/>
              <a:cs typeface="Roboto Mono"/>
              <a:sym typeface="Roboto Mono"/>
            </a:endParaRPr>
          </a:p>
          <a:p>
            <a:pPr indent="0" lvl="0" marL="0" rtl="0" algn="l">
              <a:lnSpc>
                <a:spcPct val="60000"/>
              </a:lnSpc>
              <a:spcBef>
                <a:spcPts val="1200"/>
              </a:spcBef>
              <a:spcAft>
                <a:spcPts val="0"/>
              </a:spcAft>
              <a:buClr>
                <a:schemeClr val="dk1"/>
              </a:buClr>
              <a:buSzPts val="275"/>
              <a:buFont typeface="Arial"/>
              <a:buNone/>
            </a:pPr>
            <a:r>
              <a:rPr lang="en" sz="950">
                <a:solidFill>
                  <a:srgbClr val="188038"/>
                </a:solidFill>
                <a:latin typeface="Roboto Mono"/>
                <a:ea typeface="Roboto Mono"/>
                <a:cs typeface="Roboto Mono"/>
                <a:sym typeface="Roboto Mono"/>
              </a:rPr>
              <a:t>    depends_on:</a:t>
            </a:r>
            <a:endParaRPr sz="950">
              <a:solidFill>
                <a:srgbClr val="188038"/>
              </a:solidFill>
              <a:latin typeface="Roboto Mono"/>
              <a:ea typeface="Roboto Mono"/>
              <a:cs typeface="Roboto Mono"/>
              <a:sym typeface="Roboto Mono"/>
            </a:endParaRPr>
          </a:p>
          <a:p>
            <a:pPr indent="0" lvl="0" marL="0" rtl="0" algn="l">
              <a:lnSpc>
                <a:spcPct val="60000"/>
              </a:lnSpc>
              <a:spcBef>
                <a:spcPts val="1200"/>
              </a:spcBef>
              <a:spcAft>
                <a:spcPts val="0"/>
              </a:spcAft>
              <a:buClr>
                <a:schemeClr val="dk1"/>
              </a:buClr>
              <a:buSzPts val="275"/>
              <a:buFont typeface="Arial"/>
              <a:buNone/>
            </a:pPr>
            <a:r>
              <a:rPr lang="en" sz="950">
                <a:solidFill>
                  <a:srgbClr val="188038"/>
                </a:solidFill>
                <a:latin typeface="Roboto Mono"/>
                <a:ea typeface="Roboto Mono"/>
                <a:cs typeface="Roboto Mono"/>
                <a:sym typeface="Roboto Mono"/>
              </a:rPr>
              <a:t>      - caddy</a:t>
            </a:r>
            <a:endParaRPr sz="950">
              <a:solidFill>
                <a:srgbClr val="188038"/>
              </a:solidFill>
              <a:latin typeface="Roboto Mono"/>
              <a:ea typeface="Roboto Mono"/>
              <a:cs typeface="Roboto Mono"/>
              <a:sym typeface="Roboto Mono"/>
            </a:endParaRPr>
          </a:p>
          <a:p>
            <a:pPr indent="0" lvl="0" marL="0" rtl="0" algn="l">
              <a:lnSpc>
                <a:spcPct val="60000"/>
              </a:lnSpc>
              <a:spcBef>
                <a:spcPts val="1200"/>
              </a:spcBef>
              <a:spcAft>
                <a:spcPts val="0"/>
              </a:spcAft>
              <a:buClr>
                <a:schemeClr val="dk1"/>
              </a:buClr>
              <a:buSzPts val="275"/>
              <a:buFont typeface="Arial"/>
              <a:buNone/>
            </a:pPr>
            <a:r>
              <a:rPr lang="en" sz="950">
                <a:solidFill>
                  <a:srgbClr val="188038"/>
                </a:solidFill>
                <a:latin typeface="Roboto Mono"/>
                <a:ea typeface="Roboto Mono"/>
                <a:cs typeface="Roboto Mono"/>
                <a:sym typeface="Roboto Mono"/>
              </a:rPr>
              <a:t>volumes:</a:t>
            </a:r>
            <a:endParaRPr sz="950">
              <a:solidFill>
                <a:srgbClr val="188038"/>
              </a:solidFill>
              <a:latin typeface="Roboto Mono"/>
              <a:ea typeface="Roboto Mono"/>
              <a:cs typeface="Roboto Mono"/>
              <a:sym typeface="Roboto Mono"/>
            </a:endParaRPr>
          </a:p>
          <a:p>
            <a:pPr indent="0" lvl="0" marL="0" rtl="0" algn="l">
              <a:lnSpc>
                <a:spcPct val="60000"/>
              </a:lnSpc>
              <a:spcBef>
                <a:spcPts val="1200"/>
              </a:spcBef>
              <a:spcAft>
                <a:spcPts val="0"/>
              </a:spcAft>
              <a:buClr>
                <a:schemeClr val="dk1"/>
              </a:buClr>
              <a:buSzPts val="275"/>
              <a:buFont typeface="Arial"/>
              <a:buNone/>
            </a:pPr>
            <a:r>
              <a:rPr lang="en" sz="950">
                <a:solidFill>
                  <a:srgbClr val="188038"/>
                </a:solidFill>
                <a:latin typeface="Roboto Mono"/>
                <a:ea typeface="Roboto Mono"/>
                <a:cs typeface="Roboto Mono"/>
                <a:sym typeface="Roboto Mono"/>
              </a:rPr>
              <a:t>  vault_data:</a:t>
            </a:r>
            <a:endParaRPr sz="950">
              <a:solidFill>
                <a:srgbClr val="188038"/>
              </a:solidFill>
              <a:latin typeface="Roboto Mono"/>
              <a:ea typeface="Roboto Mono"/>
              <a:cs typeface="Roboto Mono"/>
              <a:sym typeface="Roboto Mono"/>
            </a:endParaRPr>
          </a:p>
          <a:p>
            <a:pPr indent="0" lvl="0" marL="0" rtl="0" algn="l">
              <a:lnSpc>
                <a:spcPct val="60000"/>
              </a:lnSpc>
              <a:spcBef>
                <a:spcPts val="1200"/>
              </a:spcBef>
              <a:spcAft>
                <a:spcPts val="1200"/>
              </a:spcAft>
              <a:buNone/>
            </a:pPr>
            <a:r>
              <a:rPr lang="en" sz="950">
                <a:solidFill>
                  <a:srgbClr val="188038"/>
                </a:solidFill>
                <a:latin typeface="Roboto Mono"/>
                <a:ea typeface="Roboto Mono"/>
                <a:cs typeface="Roboto Mono"/>
                <a:sym typeface="Roboto Mono"/>
              </a:rPr>
              <a:t>  tailscale_state:</a:t>
            </a:r>
            <a:endParaRPr sz="1700">
              <a:solidFill>
                <a:schemeClr val="dk2"/>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latin typeface="Archivo Black"/>
                <a:ea typeface="Archivo Black"/>
                <a:cs typeface="Archivo Black"/>
                <a:sym typeface="Archivo Black"/>
              </a:rPr>
              <a:t>Key Compose Commands</a:t>
            </a:r>
            <a:endParaRPr>
              <a:latin typeface="Archivo Black"/>
              <a:ea typeface="Archivo Black"/>
              <a:cs typeface="Archivo Black"/>
              <a:sym typeface="Archivo Black"/>
            </a:endParaRPr>
          </a:p>
        </p:txBody>
      </p:sp>
      <p:graphicFrame>
        <p:nvGraphicFramePr>
          <p:cNvPr id="139" name="Google Shape;139;p26"/>
          <p:cNvGraphicFramePr/>
          <p:nvPr/>
        </p:nvGraphicFramePr>
        <p:xfrm>
          <a:off x="952500" y="1619250"/>
          <a:ext cx="3000000" cy="3000000"/>
        </p:xfrm>
        <a:graphic>
          <a:graphicData uri="http://schemas.openxmlformats.org/drawingml/2006/table">
            <a:tbl>
              <a:tblPr>
                <a:noFill/>
                <a:tableStyleId>{703D29D6-77DA-4D2D-AF9F-9845865E27CD}</a:tableStyleId>
              </a:tblPr>
              <a:tblGrid>
                <a:gridCol w="3619500"/>
                <a:gridCol w="3619500"/>
              </a:tblGrid>
              <a:tr h="531725">
                <a:tc>
                  <a:txBody>
                    <a:bodyPr/>
                    <a:lstStyle/>
                    <a:p>
                      <a:pPr indent="0" lvl="0" marL="0" rtl="0" algn="l">
                        <a:spcBef>
                          <a:spcPts val="0"/>
                        </a:spcBef>
                        <a:spcAft>
                          <a:spcPts val="0"/>
                        </a:spcAft>
                        <a:buNone/>
                      </a:pPr>
                      <a:r>
                        <a:rPr lang="en" sz="1700">
                          <a:solidFill>
                            <a:srgbClr val="188038"/>
                          </a:solidFill>
                          <a:latin typeface="Roboto Mono"/>
                          <a:ea typeface="Roboto Mono"/>
                          <a:cs typeface="Roboto Mono"/>
                          <a:sym typeface="Roboto Mono"/>
                        </a:rPr>
                        <a:t>docker compose up</a:t>
                      </a:r>
                      <a:endParaRPr sz="1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700"/>
                        <a:t>Build + start all services</a:t>
                      </a:r>
                      <a:endParaRPr sz="1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31725">
                <a:tc>
                  <a:txBody>
                    <a:bodyPr/>
                    <a:lstStyle/>
                    <a:p>
                      <a:pPr indent="0" lvl="0" marL="0" rtl="0" algn="l">
                        <a:spcBef>
                          <a:spcPts val="0"/>
                        </a:spcBef>
                        <a:spcAft>
                          <a:spcPts val="0"/>
                        </a:spcAft>
                        <a:buNone/>
                      </a:pPr>
                      <a:r>
                        <a:rPr lang="en" sz="1700">
                          <a:solidFill>
                            <a:srgbClr val="188038"/>
                          </a:solidFill>
                          <a:latin typeface="Roboto Mono"/>
                          <a:ea typeface="Roboto Mono"/>
                          <a:cs typeface="Roboto Mono"/>
                          <a:sym typeface="Roboto Mono"/>
                        </a:rPr>
                        <a:t>docker compose up -d</a:t>
                      </a:r>
                      <a:endParaRPr sz="1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700"/>
                        <a:t>Start in background</a:t>
                      </a:r>
                      <a:endParaRPr sz="1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31725">
                <a:tc>
                  <a:txBody>
                    <a:bodyPr/>
                    <a:lstStyle/>
                    <a:p>
                      <a:pPr indent="0" lvl="0" marL="0" rtl="0" algn="l">
                        <a:spcBef>
                          <a:spcPts val="0"/>
                        </a:spcBef>
                        <a:spcAft>
                          <a:spcPts val="0"/>
                        </a:spcAft>
                        <a:buNone/>
                      </a:pPr>
                      <a:r>
                        <a:rPr lang="en" sz="1700">
                          <a:solidFill>
                            <a:srgbClr val="188038"/>
                          </a:solidFill>
                          <a:latin typeface="Roboto Mono"/>
                          <a:ea typeface="Roboto Mono"/>
                          <a:cs typeface="Roboto Mono"/>
                          <a:sym typeface="Roboto Mono"/>
                        </a:rPr>
                        <a:t>docker compose down</a:t>
                      </a:r>
                      <a:endParaRPr sz="1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700"/>
                        <a:t>Stop + remove containers</a:t>
                      </a:r>
                      <a:endParaRPr sz="1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31725">
                <a:tc>
                  <a:txBody>
                    <a:bodyPr/>
                    <a:lstStyle/>
                    <a:p>
                      <a:pPr indent="0" lvl="0" marL="0" rtl="0" algn="l">
                        <a:spcBef>
                          <a:spcPts val="0"/>
                        </a:spcBef>
                        <a:spcAft>
                          <a:spcPts val="0"/>
                        </a:spcAft>
                        <a:buNone/>
                      </a:pPr>
                      <a:r>
                        <a:rPr lang="en" sz="1700">
                          <a:solidFill>
                            <a:srgbClr val="188038"/>
                          </a:solidFill>
                          <a:latin typeface="Roboto Mono"/>
                          <a:ea typeface="Roboto Mono"/>
                          <a:cs typeface="Roboto Mono"/>
                          <a:sym typeface="Roboto Mono"/>
                        </a:rPr>
                        <a:t>docker compose logs</a:t>
                      </a:r>
                      <a:endParaRPr sz="1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700"/>
                        <a:t>View logs from all services</a:t>
                      </a:r>
                      <a:endParaRPr sz="1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31725">
                <a:tc>
                  <a:txBody>
                    <a:bodyPr/>
                    <a:lstStyle/>
                    <a:p>
                      <a:pPr indent="0" lvl="0" marL="0" rtl="0" algn="l">
                        <a:spcBef>
                          <a:spcPts val="0"/>
                        </a:spcBef>
                        <a:spcAft>
                          <a:spcPts val="0"/>
                        </a:spcAft>
                        <a:buNone/>
                      </a:pPr>
                      <a:r>
                        <a:rPr lang="en" sz="1700">
                          <a:solidFill>
                            <a:srgbClr val="188038"/>
                          </a:solidFill>
                          <a:latin typeface="Roboto Mono"/>
                          <a:ea typeface="Roboto Mono"/>
                          <a:cs typeface="Roboto Mono"/>
                          <a:sym typeface="Roboto Mono"/>
                        </a:rPr>
                        <a:t>docker compose ps</a:t>
                      </a:r>
                      <a:endParaRPr sz="1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700"/>
                        <a:t>List services and status</a:t>
                      </a:r>
                      <a:endParaRPr sz="1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531725">
                <a:tc>
                  <a:txBody>
                    <a:bodyPr/>
                    <a:lstStyle/>
                    <a:p>
                      <a:pPr indent="0" lvl="0" marL="0" rtl="0" algn="l">
                        <a:spcBef>
                          <a:spcPts val="0"/>
                        </a:spcBef>
                        <a:spcAft>
                          <a:spcPts val="0"/>
                        </a:spcAft>
                        <a:buNone/>
                      </a:pPr>
                      <a:r>
                        <a:rPr lang="en" sz="1700">
                          <a:solidFill>
                            <a:srgbClr val="188038"/>
                          </a:solidFill>
                          <a:latin typeface="Roboto Mono"/>
                          <a:ea typeface="Roboto Mono"/>
                          <a:cs typeface="Roboto Mono"/>
                          <a:sym typeface="Roboto Mono"/>
                        </a:rPr>
                        <a:t>docker compose logs tailscale</a:t>
                      </a:r>
                      <a:endParaRPr sz="1700">
                        <a:solidFill>
                          <a:srgbClr val="188038"/>
                        </a:solidFill>
                        <a:latin typeface="Roboto Mono"/>
                        <a:ea typeface="Roboto Mono"/>
                        <a:cs typeface="Roboto Mono"/>
                        <a:sym typeface="Roboto Mono"/>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700"/>
                        <a:t>View logs from specific service in compose stack</a:t>
                      </a:r>
                      <a:endParaRPr sz="1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chivo Black"/>
                <a:ea typeface="Archivo Black"/>
                <a:cs typeface="Archivo Black"/>
                <a:sym typeface="Archivo Black"/>
              </a:rPr>
              <a:t>Linux vs Windows: What Changes?</a:t>
            </a:r>
            <a:endParaRPr>
              <a:latin typeface="Archivo Black"/>
              <a:ea typeface="Archivo Black"/>
              <a:cs typeface="Archivo Black"/>
              <a:sym typeface="Archivo Black"/>
            </a:endParaRPr>
          </a:p>
        </p:txBody>
      </p:sp>
      <p:sp>
        <p:nvSpPr>
          <p:cNvPr id="145" name="Google Shape;145;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None/>
            </a:pPr>
            <a:r>
              <a:rPr lang="en" sz="2000">
                <a:solidFill>
                  <a:schemeClr val="dk1"/>
                </a:solidFill>
                <a:latin typeface="Exo 2 Medium"/>
                <a:ea typeface="Exo 2 Medium"/>
                <a:cs typeface="Exo 2 Medium"/>
                <a:sym typeface="Exo 2 Medium"/>
              </a:rPr>
              <a:t>Docker Desktop on Windows runs Linux containers inside a lightweight VM (</a:t>
            </a:r>
            <a:r>
              <a:rPr lang="en" sz="2000">
                <a:solidFill>
                  <a:srgbClr val="188038"/>
                </a:solidFill>
                <a:latin typeface="Roboto Mono"/>
                <a:ea typeface="Roboto Mono"/>
                <a:cs typeface="Roboto Mono"/>
                <a:sym typeface="Roboto Mono"/>
              </a:rPr>
              <a:t>WSL2</a:t>
            </a:r>
            <a:r>
              <a:rPr lang="en" sz="2000">
                <a:solidFill>
                  <a:schemeClr val="dk1"/>
                </a:solidFill>
                <a:latin typeface="Exo 2 Medium"/>
                <a:ea typeface="Exo 2 Medium"/>
                <a:cs typeface="Exo 2 Medium"/>
                <a:sym typeface="Exo 2 Medium"/>
              </a:rPr>
              <a:t> or </a:t>
            </a:r>
            <a:r>
              <a:rPr lang="en" sz="2000">
                <a:solidFill>
                  <a:srgbClr val="188038"/>
                </a:solidFill>
                <a:latin typeface="Roboto Mono"/>
                <a:ea typeface="Roboto Mono"/>
                <a:cs typeface="Roboto Mono"/>
                <a:sym typeface="Roboto Mono"/>
              </a:rPr>
              <a:t>Hyper-V</a:t>
            </a:r>
            <a:r>
              <a:rPr lang="en" sz="2000">
                <a:solidFill>
                  <a:schemeClr val="dk1"/>
                </a:solidFill>
                <a:latin typeface="Exo 2 Medium"/>
                <a:ea typeface="Exo 2 Medium"/>
                <a:cs typeface="Exo 2 Medium"/>
                <a:sym typeface="Exo 2 Medium"/>
              </a:rPr>
              <a:t>).</a:t>
            </a:r>
            <a:endParaRPr sz="2000">
              <a:solidFill>
                <a:schemeClr val="dk1"/>
              </a:solidFill>
              <a:latin typeface="Exo 2 Medium"/>
              <a:ea typeface="Exo 2 Medium"/>
              <a:cs typeface="Exo 2 Medium"/>
              <a:sym typeface="Exo 2 Medium"/>
            </a:endParaRPr>
          </a:p>
          <a:p>
            <a:pPr indent="-346075" lvl="0" marL="457200" rtl="0" algn="l">
              <a:spcBef>
                <a:spcPts val="1200"/>
              </a:spcBef>
              <a:spcAft>
                <a:spcPts val="0"/>
              </a:spcAft>
              <a:buClr>
                <a:schemeClr val="dk1"/>
              </a:buClr>
              <a:buSzPct val="100000"/>
              <a:buFont typeface="Exo 2 Medium"/>
              <a:buChar char="-"/>
            </a:pPr>
            <a:r>
              <a:rPr lang="en" sz="2000">
                <a:solidFill>
                  <a:srgbClr val="188038"/>
                </a:solidFill>
                <a:latin typeface="Roboto Mono"/>
                <a:ea typeface="Roboto Mono"/>
                <a:cs typeface="Roboto Mono"/>
                <a:sym typeface="Roboto Mono"/>
              </a:rPr>
              <a:t>WSL2</a:t>
            </a:r>
            <a:r>
              <a:rPr lang="en" sz="2000">
                <a:solidFill>
                  <a:schemeClr val="dk1"/>
                </a:solidFill>
                <a:latin typeface="Exo 2 Medium"/>
                <a:ea typeface="Exo 2 Medium"/>
                <a:cs typeface="Exo 2 Medium"/>
                <a:sym typeface="Exo 2 Medium"/>
              </a:rPr>
              <a:t> backend is recommended for most Windows 10/11 users</a:t>
            </a:r>
            <a:endParaRPr sz="2000">
              <a:solidFill>
                <a:schemeClr val="dk1"/>
              </a:solidFill>
              <a:latin typeface="Exo 2 Medium"/>
              <a:ea typeface="Exo 2 Medium"/>
              <a:cs typeface="Exo 2 Medium"/>
              <a:sym typeface="Exo 2 Medium"/>
            </a:endParaRPr>
          </a:p>
          <a:p>
            <a:pPr indent="-346075" lvl="0" marL="457200" rtl="0" algn="l">
              <a:spcBef>
                <a:spcPts val="0"/>
              </a:spcBef>
              <a:spcAft>
                <a:spcPts val="0"/>
              </a:spcAft>
              <a:buClr>
                <a:schemeClr val="dk1"/>
              </a:buClr>
              <a:buSzPct val="100000"/>
              <a:buFont typeface="Exo 2 Medium"/>
              <a:buChar char="-"/>
            </a:pPr>
            <a:r>
              <a:rPr lang="en" sz="2000">
                <a:solidFill>
                  <a:schemeClr val="dk1"/>
                </a:solidFill>
                <a:latin typeface="Exo 2 Medium"/>
                <a:ea typeface="Exo 2 Medium"/>
                <a:cs typeface="Exo 2 Medium"/>
                <a:sym typeface="Exo 2 Medium"/>
              </a:rPr>
              <a:t>Docker Desktop on Linux also runs a VM for consistency and security (Dont use docker desktop on linux - CLi only)</a:t>
            </a:r>
            <a:endParaRPr sz="2000">
              <a:solidFill>
                <a:schemeClr val="dk1"/>
              </a:solidFill>
              <a:latin typeface="Exo 2 Medium"/>
              <a:ea typeface="Exo 2 Medium"/>
              <a:cs typeface="Exo 2 Medium"/>
              <a:sym typeface="Exo 2 Medium"/>
            </a:endParaRPr>
          </a:p>
          <a:p>
            <a:pPr indent="0" lvl="0" marL="0" rtl="0" algn="l">
              <a:spcBef>
                <a:spcPts val="1200"/>
              </a:spcBef>
              <a:spcAft>
                <a:spcPts val="0"/>
              </a:spcAft>
              <a:buNone/>
            </a:pPr>
            <a:r>
              <a:rPr lang="en" sz="2000">
                <a:solidFill>
                  <a:schemeClr val="dk1"/>
                </a:solidFill>
                <a:latin typeface="Exo 2 Medium"/>
                <a:ea typeface="Exo 2 Medium"/>
                <a:cs typeface="Exo 2 Medium"/>
                <a:sym typeface="Exo 2 Medium"/>
              </a:rPr>
              <a:t>File-system gotcha</a:t>
            </a:r>
            <a:endParaRPr sz="2000">
              <a:solidFill>
                <a:schemeClr val="dk1"/>
              </a:solidFill>
              <a:latin typeface="Exo 2 Medium"/>
              <a:ea typeface="Exo 2 Medium"/>
              <a:cs typeface="Exo 2 Medium"/>
              <a:sym typeface="Exo 2 Medium"/>
            </a:endParaRPr>
          </a:p>
          <a:p>
            <a:pPr indent="-346075" lvl="0" marL="457200" rtl="0" algn="l">
              <a:spcBef>
                <a:spcPts val="1200"/>
              </a:spcBef>
              <a:spcAft>
                <a:spcPts val="0"/>
              </a:spcAft>
              <a:buClr>
                <a:schemeClr val="dk1"/>
              </a:buClr>
              <a:buSzPct val="100000"/>
              <a:buFont typeface="Exo 2 Medium"/>
              <a:buChar char="-"/>
            </a:pPr>
            <a:r>
              <a:rPr lang="en" sz="2000">
                <a:solidFill>
                  <a:schemeClr val="dk1"/>
                </a:solidFill>
                <a:latin typeface="Exo 2 Medium"/>
                <a:ea typeface="Exo 2 Medium"/>
                <a:cs typeface="Exo 2 Medium"/>
                <a:sym typeface="Exo 2 Medium"/>
              </a:rPr>
              <a:t>Bind-mount from the Linux filesystem (inside </a:t>
            </a:r>
            <a:r>
              <a:rPr lang="en" sz="2000">
                <a:solidFill>
                  <a:srgbClr val="188038"/>
                </a:solidFill>
                <a:latin typeface="Roboto Mono"/>
                <a:ea typeface="Roboto Mono"/>
                <a:cs typeface="Roboto Mono"/>
                <a:sym typeface="Roboto Mono"/>
              </a:rPr>
              <a:t>WSL2</a:t>
            </a:r>
            <a:r>
              <a:rPr lang="en" sz="2000">
                <a:solidFill>
                  <a:schemeClr val="dk1"/>
                </a:solidFill>
                <a:latin typeface="Exo 2 Medium"/>
                <a:ea typeface="Exo 2 Medium"/>
                <a:cs typeface="Exo 2 Medium"/>
                <a:sym typeface="Exo 2 Medium"/>
              </a:rPr>
              <a:t>) for best performance</a:t>
            </a:r>
            <a:endParaRPr sz="2000">
              <a:solidFill>
                <a:schemeClr val="dk1"/>
              </a:solidFill>
              <a:latin typeface="Exo 2 Medium"/>
              <a:ea typeface="Exo 2 Medium"/>
              <a:cs typeface="Exo 2 Medium"/>
              <a:sym typeface="Exo 2 Medium"/>
            </a:endParaRPr>
          </a:p>
          <a:p>
            <a:pPr indent="-346075" lvl="0" marL="457200" rtl="0" algn="l">
              <a:spcBef>
                <a:spcPts val="0"/>
              </a:spcBef>
              <a:spcAft>
                <a:spcPts val="0"/>
              </a:spcAft>
              <a:buClr>
                <a:schemeClr val="dk1"/>
              </a:buClr>
              <a:buSzPct val="100000"/>
              <a:buFont typeface="Exo 2 Medium"/>
              <a:buChar char="-"/>
            </a:pPr>
            <a:r>
              <a:rPr lang="en" sz="2000">
                <a:solidFill>
                  <a:schemeClr val="dk1"/>
                </a:solidFill>
                <a:latin typeface="Exo 2 Medium"/>
                <a:ea typeface="Exo 2 Medium"/>
                <a:cs typeface="Exo 2 Medium"/>
                <a:sym typeface="Exo 2 Medium"/>
              </a:rPr>
              <a:t>Avoid bind-mounting from C:\ → </a:t>
            </a:r>
            <a:r>
              <a:rPr lang="en" sz="2000">
                <a:solidFill>
                  <a:srgbClr val="188038"/>
                </a:solidFill>
                <a:latin typeface="Roboto Mono"/>
                <a:ea typeface="Roboto Mono"/>
                <a:cs typeface="Roboto Mono"/>
                <a:sym typeface="Roboto Mono"/>
              </a:rPr>
              <a:t>docker run -v /mnt/c/…</a:t>
            </a:r>
            <a:r>
              <a:rPr lang="en" sz="2000">
                <a:solidFill>
                  <a:schemeClr val="dk1"/>
                </a:solidFill>
                <a:latin typeface="Exo 2 Medium"/>
                <a:ea typeface="Exo 2 Medium"/>
                <a:cs typeface="Exo 2 Medium"/>
                <a:sym typeface="Exo 2 Medium"/>
              </a:rPr>
              <a:t> is slow</a:t>
            </a:r>
            <a:endParaRPr sz="2000">
              <a:solidFill>
                <a:schemeClr val="dk1"/>
              </a:solidFill>
              <a:latin typeface="Exo 2 Medium"/>
              <a:ea typeface="Exo 2 Medium"/>
              <a:cs typeface="Exo 2 Medium"/>
              <a:sym typeface="Exo 2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chivo Black"/>
                <a:ea typeface="Archivo Black"/>
                <a:cs typeface="Archivo Black"/>
                <a:sym typeface="Archivo Black"/>
              </a:rPr>
              <a:t>Windows Containers vs Linux Containers</a:t>
            </a:r>
            <a:endParaRPr>
              <a:latin typeface="Archivo Black"/>
              <a:ea typeface="Archivo Black"/>
              <a:cs typeface="Archivo Black"/>
              <a:sym typeface="Archivo Black"/>
            </a:endParaRPr>
          </a:p>
        </p:txBody>
      </p:sp>
      <p:sp>
        <p:nvSpPr>
          <p:cNvPr id="151" name="Google Shape;151;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Clr>
                <a:schemeClr val="dk1"/>
              </a:buClr>
              <a:buSzPts val="2000"/>
              <a:buFont typeface="Exo 2 Medium"/>
              <a:buChar char="-"/>
            </a:pPr>
            <a:r>
              <a:rPr lang="en" sz="2000">
                <a:solidFill>
                  <a:schemeClr val="dk1"/>
                </a:solidFill>
                <a:latin typeface="Exo 2 Medium"/>
                <a:ea typeface="Exo 2 Medium"/>
                <a:cs typeface="Exo 2 Medium"/>
                <a:sym typeface="Exo 2 Medium"/>
              </a:rPr>
              <a:t>Docker Desktop on Windows supports two modes:</a:t>
            </a:r>
            <a:endParaRPr sz="2000">
              <a:solidFill>
                <a:schemeClr val="dk1"/>
              </a:solidFill>
              <a:latin typeface="Exo 2 Medium"/>
              <a:ea typeface="Exo 2 Medium"/>
              <a:cs typeface="Exo 2 Medium"/>
              <a:sym typeface="Exo 2 Medium"/>
            </a:endParaRPr>
          </a:p>
          <a:p>
            <a:pPr indent="-355600" lvl="1" marL="914400" rtl="0" algn="l">
              <a:spcBef>
                <a:spcPts val="0"/>
              </a:spcBef>
              <a:spcAft>
                <a:spcPts val="0"/>
              </a:spcAft>
              <a:buClr>
                <a:schemeClr val="dk1"/>
              </a:buClr>
              <a:buSzPts val="2000"/>
              <a:buFont typeface="Exo 2 Medium"/>
              <a:buChar char="-"/>
            </a:pPr>
            <a:r>
              <a:rPr lang="en" sz="2000">
                <a:solidFill>
                  <a:schemeClr val="dk1"/>
                </a:solidFill>
                <a:latin typeface="Exo 2 Medium"/>
                <a:ea typeface="Exo 2 Medium"/>
                <a:cs typeface="Exo 2 Medium"/>
                <a:sym typeface="Exo 2 Medium"/>
              </a:rPr>
              <a:t>Linux containers (default, most common)</a:t>
            </a:r>
            <a:endParaRPr sz="2000">
              <a:solidFill>
                <a:schemeClr val="dk1"/>
              </a:solidFill>
              <a:latin typeface="Exo 2 Medium"/>
              <a:ea typeface="Exo 2 Medium"/>
              <a:cs typeface="Exo 2 Medium"/>
              <a:sym typeface="Exo 2 Medium"/>
            </a:endParaRPr>
          </a:p>
          <a:p>
            <a:pPr indent="-355600" lvl="1" marL="914400" rtl="0" algn="l">
              <a:spcBef>
                <a:spcPts val="0"/>
              </a:spcBef>
              <a:spcAft>
                <a:spcPts val="0"/>
              </a:spcAft>
              <a:buClr>
                <a:schemeClr val="dk1"/>
              </a:buClr>
              <a:buSzPts val="2000"/>
              <a:buFont typeface="Exo 2 Medium"/>
              <a:buChar char="-"/>
            </a:pPr>
            <a:r>
              <a:rPr lang="en" sz="2000">
                <a:solidFill>
                  <a:schemeClr val="dk1"/>
                </a:solidFill>
                <a:latin typeface="Exo 2 Medium"/>
                <a:ea typeface="Exo 2 Medium"/>
                <a:cs typeface="Exo 2 Medium"/>
                <a:sym typeface="Exo 2 Medium"/>
              </a:rPr>
              <a:t>Windows containers (for .NET Framework, Windows-specific workloads)</a:t>
            </a:r>
            <a:endParaRPr sz="2000">
              <a:solidFill>
                <a:schemeClr val="dk1"/>
              </a:solidFill>
              <a:latin typeface="Exo 2 Medium"/>
              <a:ea typeface="Exo 2 Medium"/>
              <a:cs typeface="Exo 2 Medium"/>
              <a:sym typeface="Exo 2 Medium"/>
            </a:endParaRPr>
          </a:p>
          <a:p>
            <a:pPr indent="-355600" lvl="0" marL="457200" rtl="0" algn="l">
              <a:spcBef>
                <a:spcPts val="0"/>
              </a:spcBef>
              <a:spcAft>
                <a:spcPts val="0"/>
              </a:spcAft>
              <a:buClr>
                <a:schemeClr val="dk1"/>
              </a:buClr>
              <a:buSzPts val="2000"/>
              <a:buFont typeface="Exo 2 Medium"/>
              <a:buChar char="-"/>
            </a:pPr>
            <a:r>
              <a:rPr lang="en" sz="2000">
                <a:solidFill>
                  <a:schemeClr val="dk1"/>
                </a:solidFill>
                <a:latin typeface="Exo 2 Medium"/>
                <a:ea typeface="Exo 2 Medium"/>
                <a:cs typeface="Exo 2 Medium"/>
                <a:sym typeface="Exo 2 Medium"/>
              </a:rPr>
              <a:t>You can switch modes, but not run both simultaneously</a:t>
            </a:r>
            <a:endParaRPr sz="2000">
              <a:solidFill>
                <a:schemeClr val="dk1"/>
              </a:solidFill>
              <a:latin typeface="Exo 2 Medium"/>
              <a:ea typeface="Exo 2 Medium"/>
              <a:cs typeface="Exo 2 Medium"/>
              <a:sym typeface="Exo 2 Medium"/>
            </a:endParaRPr>
          </a:p>
          <a:p>
            <a:pPr indent="-355600" lvl="0" marL="457200" rtl="0" algn="l">
              <a:spcBef>
                <a:spcPts val="0"/>
              </a:spcBef>
              <a:spcAft>
                <a:spcPts val="0"/>
              </a:spcAft>
              <a:buClr>
                <a:schemeClr val="dk1"/>
              </a:buClr>
              <a:buSzPts val="2000"/>
              <a:buFont typeface="Exo 2 Medium"/>
              <a:buChar char="-"/>
            </a:pPr>
            <a:r>
              <a:rPr lang="en" sz="2000">
                <a:solidFill>
                  <a:schemeClr val="dk1"/>
                </a:solidFill>
                <a:latin typeface="Exo 2 Medium"/>
                <a:ea typeface="Exo 2 Medium"/>
                <a:cs typeface="Exo 2 Medium"/>
                <a:sym typeface="Exo 2 Medium"/>
              </a:rPr>
              <a:t>Windows Home/Education editions only support Linux containers</a:t>
            </a:r>
            <a:endParaRPr sz="2000">
              <a:solidFill>
                <a:schemeClr val="dk1"/>
              </a:solidFill>
              <a:latin typeface="Exo 2 Medium"/>
              <a:ea typeface="Exo 2 Medium"/>
              <a:cs typeface="Exo 2 Medium"/>
              <a:sym typeface="Exo 2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chivo Black"/>
                <a:ea typeface="Archivo Black"/>
                <a:cs typeface="Archivo Black"/>
                <a:sym typeface="Archivo Black"/>
              </a:rPr>
              <a:t>Capstone: A Drag-and-Drop Markdown Vault</a:t>
            </a:r>
            <a:endParaRPr>
              <a:latin typeface="Archivo Black"/>
              <a:ea typeface="Archivo Black"/>
              <a:cs typeface="Archivo Black"/>
              <a:sym typeface="Archivo Black"/>
            </a:endParaRPr>
          </a:p>
        </p:txBody>
      </p:sp>
      <p:sp>
        <p:nvSpPr>
          <p:cNvPr id="157" name="Google Shape;157;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Clr>
                <a:schemeClr val="dk1"/>
              </a:buClr>
              <a:buSzPts val="2000"/>
              <a:buFont typeface="Exo 2 Medium"/>
              <a:buChar char="-"/>
            </a:pPr>
            <a:r>
              <a:rPr lang="en" sz="2000">
                <a:solidFill>
                  <a:schemeClr val="dk1"/>
                </a:solidFill>
                <a:latin typeface="Exo 2 Medium"/>
                <a:ea typeface="Exo 2 Medium"/>
                <a:cs typeface="Exo 2 Medium"/>
                <a:sym typeface="Exo 2 Medium"/>
              </a:rPr>
              <a:t>Backend: Minimal python </a:t>
            </a:r>
            <a:r>
              <a:rPr lang="en" sz="2000">
                <a:solidFill>
                  <a:srgbClr val="188038"/>
                </a:solidFill>
                <a:latin typeface="Roboto Mono"/>
                <a:ea typeface="Roboto Mono"/>
                <a:cs typeface="Roboto Mono"/>
                <a:sym typeface="Roboto Mono"/>
              </a:rPr>
              <a:t>shiny-express</a:t>
            </a:r>
            <a:r>
              <a:rPr lang="en" sz="2000">
                <a:solidFill>
                  <a:schemeClr val="dk1"/>
                </a:solidFill>
                <a:latin typeface="Exo 2 Medium"/>
                <a:ea typeface="Exo 2 Medium"/>
                <a:cs typeface="Exo 2 Medium"/>
                <a:sym typeface="Exo 2 Medium"/>
              </a:rPr>
              <a:t> web server</a:t>
            </a:r>
            <a:endParaRPr sz="2000">
              <a:solidFill>
                <a:schemeClr val="dk1"/>
              </a:solidFill>
              <a:latin typeface="Exo 2 Medium"/>
              <a:ea typeface="Exo 2 Medium"/>
              <a:cs typeface="Exo 2 Medium"/>
              <a:sym typeface="Exo 2 Medium"/>
            </a:endParaRPr>
          </a:p>
          <a:p>
            <a:pPr indent="-355600" lvl="0" marL="457200" rtl="0" algn="l">
              <a:spcBef>
                <a:spcPts val="0"/>
              </a:spcBef>
              <a:spcAft>
                <a:spcPts val="0"/>
              </a:spcAft>
              <a:buClr>
                <a:schemeClr val="dk1"/>
              </a:buClr>
              <a:buSzPts val="2000"/>
              <a:buFont typeface="Exo 2 Medium"/>
              <a:buChar char="-"/>
            </a:pPr>
            <a:r>
              <a:rPr lang="en" sz="2000">
                <a:solidFill>
                  <a:schemeClr val="dk1"/>
                </a:solidFill>
                <a:latin typeface="Exo 2 Medium"/>
                <a:ea typeface="Exo 2 Medium"/>
                <a:cs typeface="Exo 2 Medium"/>
                <a:sym typeface="Exo 2 Medium"/>
              </a:rPr>
              <a:t>Frontend: Clean web GUI listing notes</a:t>
            </a:r>
            <a:endParaRPr sz="2000">
              <a:solidFill>
                <a:schemeClr val="dk1"/>
              </a:solidFill>
              <a:latin typeface="Exo 2 Medium"/>
              <a:ea typeface="Exo 2 Medium"/>
              <a:cs typeface="Exo 2 Medium"/>
              <a:sym typeface="Exo 2 Medium"/>
            </a:endParaRPr>
          </a:p>
          <a:p>
            <a:pPr indent="-355600" lvl="0" marL="457200" rtl="0" algn="l">
              <a:spcBef>
                <a:spcPts val="0"/>
              </a:spcBef>
              <a:spcAft>
                <a:spcPts val="0"/>
              </a:spcAft>
              <a:buClr>
                <a:schemeClr val="dk1"/>
              </a:buClr>
              <a:buSzPts val="2000"/>
              <a:buFont typeface="Exo 2 Medium"/>
              <a:buChar char="-"/>
            </a:pPr>
            <a:r>
              <a:rPr lang="en" sz="2000">
                <a:solidFill>
                  <a:schemeClr val="dk1"/>
                </a:solidFill>
                <a:latin typeface="Exo 2 Medium"/>
                <a:ea typeface="Exo 2 Medium"/>
                <a:cs typeface="Exo 2 Medium"/>
                <a:sym typeface="Exo 2 Medium"/>
              </a:rPr>
              <a:t>Upload: Drag-and-drop .md files into the upload control</a:t>
            </a:r>
            <a:endParaRPr sz="2000">
              <a:solidFill>
                <a:schemeClr val="dk1"/>
              </a:solidFill>
              <a:latin typeface="Exo 2 Medium"/>
              <a:ea typeface="Exo 2 Medium"/>
              <a:cs typeface="Exo 2 Medium"/>
              <a:sym typeface="Exo 2 Medium"/>
            </a:endParaRPr>
          </a:p>
          <a:p>
            <a:pPr indent="-355600" lvl="0" marL="457200" rtl="0" algn="l">
              <a:spcBef>
                <a:spcPts val="0"/>
              </a:spcBef>
              <a:spcAft>
                <a:spcPts val="0"/>
              </a:spcAft>
              <a:buClr>
                <a:schemeClr val="dk1"/>
              </a:buClr>
              <a:buSzPts val="2000"/>
              <a:buFont typeface="Exo 2 Medium"/>
              <a:buChar char="-"/>
            </a:pPr>
            <a:r>
              <a:rPr lang="en" sz="2000">
                <a:solidFill>
                  <a:schemeClr val="dk1"/>
                </a:solidFill>
                <a:latin typeface="Exo 2 Medium"/>
                <a:ea typeface="Exo 2 Medium"/>
                <a:cs typeface="Exo 2 Medium"/>
                <a:sym typeface="Exo 2 Medium"/>
              </a:rPr>
              <a:t>Tailscale sidecar for tailnet access</a:t>
            </a:r>
            <a:endParaRPr sz="2000">
              <a:solidFill>
                <a:schemeClr val="dk1"/>
              </a:solidFill>
              <a:latin typeface="Exo 2 Medium"/>
              <a:ea typeface="Exo 2 Medium"/>
              <a:cs typeface="Exo 2 Medium"/>
              <a:sym typeface="Exo 2 Medium"/>
            </a:endParaRPr>
          </a:p>
          <a:p>
            <a:pPr indent="-355600" lvl="0" marL="457200" rtl="0" algn="l">
              <a:spcBef>
                <a:spcPts val="0"/>
              </a:spcBef>
              <a:spcAft>
                <a:spcPts val="0"/>
              </a:spcAft>
              <a:buClr>
                <a:schemeClr val="dk1"/>
              </a:buClr>
              <a:buSzPts val="2000"/>
              <a:buFont typeface="Exo 2 Medium"/>
              <a:buChar char="-"/>
            </a:pPr>
            <a:r>
              <a:rPr lang="en" sz="2000">
                <a:solidFill>
                  <a:schemeClr val="dk1"/>
                </a:solidFill>
                <a:latin typeface="Exo 2 Medium"/>
                <a:ea typeface="Exo 2 Medium"/>
                <a:cs typeface="Exo 2 Medium"/>
                <a:sym typeface="Exo 2 Medium"/>
              </a:rPr>
              <a:t>Caddy reverse proxy</a:t>
            </a:r>
            <a:endParaRPr sz="2000">
              <a:solidFill>
                <a:schemeClr val="dk1"/>
              </a:solidFill>
              <a:latin typeface="Exo 2 Medium"/>
              <a:ea typeface="Exo 2 Medium"/>
              <a:cs typeface="Exo 2 Medium"/>
              <a:sym typeface="Exo 2 Medium"/>
            </a:endParaRPr>
          </a:p>
          <a:p>
            <a:pPr indent="-355600" lvl="0" marL="457200" rtl="0" algn="l">
              <a:spcBef>
                <a:spcPts val="0"/>
              </a:spcBef>
              <a:spcAft>
                <a:spcPts val="0"/>
              </a:spcAft>
              <a:buClr>
                <a:schemeClr val="dk1"/>
              </a:buClr>
              <a:buSzPts val="2000"/>
              <a:buFont typeface="Exo 2 Medium"/>
              <a:buChar char="-"/>
            </a:pPr>
            <a:r>
              <a:rPr lang="en" sz="2000">
                <a:solidFill>
                  <a:schemeClr val="dk1"/>
                </a:solidFill>
                <a:latin typeface="Exo 2 Medium"/>
                <a:ea typeface="Exo 2 Medium"/>
                <a:cs typeface="Exo 2 Medium"/>
                <a:sym typeface="Exo 2 Medium"/>
              </a:rPr>
              <a:t>Named volume </a:t>
            </a:r>
            <a:r>
              <a:rPr lang="en" sz="2000">
                <a:solidFill>
                  <a:srgbClr val="188038"/>
                </a:solidFill>
                <a:latin typeface="Roboto Mono"/>
                <a:ea typeface="Roboto Mono"/>
                <a:cs typeface="Roboto Mono"/>
                <a:sym typeface="Roboto Mono"/>
              </a:rPr>
              <a:t>vault_data</a:t>
            </a:r>
            <a:endParaRPr sz="2000">
              <a:solidFill>
                <a:schemeClr val="dk1"/>
              </a:solidFill>
              <a:latin typeface="Exo 2 Medium"/>
              <a:ea typeface="Exo 2 Medium"/>
              <a:cs typeface="Exo 2 Medium"/>
              <a:sym typeface="Exo 2 Medium"/>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chivo Black"/>
                <a:ea typeface="Archivo Black"/>
                <a:cs typeface="Archivo Black"/>
                <a:sym typeface="Archivo Black"/>
              </a:rPr>
              <a:t>Live Demo: Build &amp; Run the Vault</a:t>
            </a:r>
            <a:endParaRPr>
              <a:latin typeface="Archivo Black"/>
              <a:ea typeface="Archivo Black"/>
              <a:cs typeface="Archivo Black"/>
              <a:sym typeface="Archivo Black"/>
            </a:endParaRPr>
          </a:p>
        </p:txBody>
      </p:sp>
      <p:sp>
        <p:nvSpPr>
          <p:cNvPr id="163" name="Google Shape;163;p3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80000"/>
              </a:lnSpc>
              <a:spcBef>
                <a:spcPts val="0"/>
              </a:spcBef>
              <a:spcAft>
                <a:spcPts val="1200"/>
              </a:spcAft>
              <a:buSzPts val="275"/>
              <a:buNone/>
            </a:pPr>
            <a:r>
              <a:rPr lang="en" sz="2200">
                <a:solidFill>
                  <a:srgbClr val="188038"/>
                </a:solidFill>
                <a:latin typeface="Exo 2"/>
                <a:ea typeface="Exo 2"/>
                <a:cs typeface="Exo 2"/>
                <a:sym typeface="Exo 2"/>
              </a:rPr>
              <a:t>Now we will begin the demo!</a:t>
            </a:r>
            <a:endParaRPr sz="2200">
              <a:solidFill>
                <a:schemeClr val="dk1"/>
              </a:solidFill>
              <a:latin typeface="Exo 2"/>
              <a:ea typeface="Exo 2"/>
              <a:cs typeface="Exo 2"/>
              <a:sym typeface="Exo 2"/>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latin typeface="Archivo Black"/>
                <a:ea typeface="Archivo Black"/>
                <a:cs typeface="Archivo Black"/>
                <a:sym typeface="Archivo Black"/>
              </a:rPr>
              <a:t>Key Takeaways &amp; Next Steps</a:t>
            </a:r>
            <a:endParaRPr>
              <a:latin typeface="Archivo Black"/>
              <a:ea typeface="Archivo Black"/>
              <a:cs typeface="Archivo Black"/>
              <a:sym typeface="Archivo Black"/>
            </a:endParaRPr>
          </a:p>
        </p:txBody>
      </p:sp>
      <p:sp>
        <p:nvSpPr>
          <p:cNvPr id="169" name="Google Shape;169;p31"/>
          <p:cNvSpPr txBox="1"/>
          <p:nvPr>
            <p:ph idx="1" type="body"/>
          </p:nvPr>
        </p:nvSpPr>
        <p:spPr>
          <a:xfrm>
            <a:off x="311700" y="1017725"/>
            <a:ext cx="8520600" cy="4125900"/>
          </a:xfrm>
          <a:prstGeom prst="rect">
            <a:avLst/>
          </a:prstGeom>
        </p:spPr>
        <p:txBody>
          <a:bodyPr anchorCtr="0" anchor="t" bIns="91425" lIns="91425" spcFirstLastPara="1" rIns="91425" wrap="square" tIns="91425">
            <a:noAutofit/>
          </a:bodyPr>
          <a:lstStyle/>
          <a:p>
            <a:pPr indent="-323850" lvl="0" marL="457200" rtl="0" algn="l">
              <a:lnSpc>
                <a:spcPct val="130000"/>
              </a:lnSpc>
              <a:spcBef>
                <a:spcPts val="0"/>
              </a:spcBef>
              <a:spcAft>
                <a:spcPts val="0"/>
              </a:spcAft>
              <a:buClr>
                <a:schemeClr val="dk1"/>
              </a:buClr>
              <a:buSzPts val="1500"/>
              <a:buFont typeface="Exo 2 Medium"/>
              <a:buChar char="-"/>
            </a:pPr>
            <a:r>
              <a:rPr lang="en" sz="1500">
                <a:solidFill>
                  <a:schemeClr val="dk1"/>
                </a:solidFill>
                <a:latin typeface="Exo 2 Medium"/>
                <a:ea typeface="Exo 2 Medium"/>
                <a:cs typeface="Exo 2 Medium"/>
                <a:sym typeface="Exo 2 Medium"/>
              </a:rPr>
              <a:t>Docker packages apps into portable, reproducible containers</a:t>
            </a:r>
            <a:endParaRPr sz="1500">
              <a:solidFill>
                <a:schemeClr val="dk1"/>
              </a:solidFill>
              <a:latin typeface="Exo 2 Medium"/>
              <a:ea typeface="Exo 2 Medium"/>
              <a:cs typeface="Exo 2 Medium"/>
              <a:sym typeface="Exo 2 Medium"/>
            </a:endParaRPr>
          </a:p>
          <a:p>
            <a:pPr indent="-323850" lvl="0" marL="457200" rtl="0" algn="l">
              <a:lnSpc>
                <a:spcPct val="130000"/>
              </a:lnSpc>
              <a:spcBef>
                <a:spcPts val="0"/>
              </a:spcBef>
              <a:spcAft>
                <a:spcPts val="0"/>
              </a:spcAft>
              <a:buClr>
                <a:schemeClr val="dk1"/>
              </a:buClr>
              <a:buSzPts val="1500"/>
              <a:buFont typeface="Exo 2 Medium"/>
              <a:buChar char="-"/>
            </a:pPr>
            <a:r>
              <a:rPr lang="en" sz="1500">
                <a:solidFill>
                  <a:schemeClr val="dk1"/>
                </a:solidFill>
                <a:latin typeface="Exo 2 Medium"/>
                <a:ea typeface="Exo 2 Medium"/>
                <a:cs typeface="Exo 2 Medium"/>
                <a:sym typeface="Exo 2 Medium"/>
              </a:rPr>
              <a:t>Images are templates; containers are running instances</a:t>
            </a:r>
            <a:endParaRPr sz="1500">
              <a:solidFill>
                <a:schemeClr val="dk1"/>
              </a:solidFill>
              <a:latin typeface="Exo 2 Medium"/>
              <a:ea typeface="Exo 2 Medium"/>
              <a:cs typeface="Exo 2 Medium"/>
              <a:sym typeface="Exo 2 Medium"/>
            </a:endParaRPr>
          </a:p>
          <a:p>
            <a:pPr indent="-323850" lvl="0" marL="457200" rtl="0" algn="l">
              <a:lnSpc>
                <a:spcPct val="130000"/>
              </a:lnSpc>
              <a:spcBef>
                <a:spcPts val="0"/>
              </a:spcBef>
              <a:spcAft>
                <a:spcPts val="0"/>
              </a:spcAft>
              <a:buClr>
                <a:schemeClr val="dk1"/>
              </a:buClr>
              <a:buSzPts val="1500"/>
              <a:buFont typeface="Exo 2 Medium"/>
              <a:buChar char="-"/>
            </a:pPr>
            <a:r>
              <a:rPr lang="en" sz="1500">
                <a:solidFill>
                  <a:schemeClr val="dk1"/>
                </a:solidFill>
                <a:latin typeface="Exo 2 Medium"/>
                <a:ea typeface="Exo 2 Medium"/>
                <a:cs typeface="Exo 2 Medium"/>
                <a:sym typeface="Exo 2 Medium"/>
              </a:rPr>
              <a:t>Dockerfiles build custom images; Compose orchestrates multi-container apps</a:t>
            </a:r>
            <a:endParaRPr sz="1500">
              <a:solidFill>
                <a:schemeClr val="dk1"/>
              </a:solidFill>
              <a:latin typeface="Exo 2 Medium"/>
              <a:ea typeface="Exo 2 Medium"/>
              <a:cs typeface="Exo 2 Medium"/>
              <a:sym typeface="Exo 2 Medium"/>
            </a:endParaRPr>
          </a:p>
          <a:p>
            <a:pPr indent="-323850" lvl="0" marL="457200" rtl="0" algn="l">
              <a:lnSpc>
                <a:spcPct val="130000"/>
              </a:lnSpc>
              <a:spcBef>
                <a:spcPts val="0"/>
              </a:spcBef>
              <a:spcAft>
                <a:spcPts val="0"/>
              </a:spcAft>
              <a:buClr>
                <a:schemeClr val="dk1"/>
              </a:buClr>
              <a:buSzPts val="1500"/>
              <a:buFont typeface="Exo 2 Medium"/>
              <a:buChar char="-"/>
            </a:pPr>
            <a:r>
              <a:rPr i="1" lang="en" sz="1500" u="sng">
                <a:solidFill>
                  <a:schemeClr val="dk1"/>
                </a:solidFill>
                <a:latin typeface="Exo 2 Medium"/>
                <a:ea typeface="Exo 2 Medium"/>
                <a:cs typeface="Exo 2 Medium"/>
                <a:sym typeface="Exo 2 Medium"/>
              </a:rPr>
              <a:t>Windows users: </a:t>
            </a:r>
            <a:r>
              <a:rPr lang="en" sz="1500">
                <a:solidFill>
                  <a:schemeClr val="dk1"/>
                </a:solidFill>
                <a:latin typeface="Exo 2 Medium"/>
                <a:ea typeface="Exo 2 Medium"/>
                <a:cs typeface="Exo 2 Medium"/>
                <a:sym typeface="Exo 2 Medium"/>
              </a:rPr>
              <a:t>use WSL2 and keep projects inside the Linux filesystem for speed</a:t>
            </a:r>
            <a:endParaRPr sz="1500">
              <a:solidFill>
                <a:schemeClr val="dk1"/>
              </a:solidFill>
              <a:latin typeface="Exo 2 Medium"/>
              <a:ea typeface="Exo 2 Medium"/>
              <a:cs typeface="Exo 2 Medium"/>
              <a:sym typeface="Exo 2 Medium"/>
            </a:endParaRPr>
          </a:p>
          <a:p>
            <a:pPr indent="-323850" lvl="0" marL="457200" rtl="0" algn="l">
              <a:lnSpc>
                <a:spcPct val="130000"/>
              </a:lnSpc>
              <a:spcBef>
                <a:spcPts val="0"/>
              </a:spcBef>
              <a:spcAft>
                <a:spcPts val="0"/>
              </a:spcAft>
              <a:buClr>
                <a:schemeClr val="dk1"/>
              </a:buClr>
              <a:buSzPts val="1500"/>
              <a:buFont typeface="Exo 2 Medium"/>
              <a:buChar char="-"/>
            </a:pPr>
            <a:r>
              <a:rPr lang="en" sz="1500">
                <a:solidFill>
                  <a:schemeClr val="dk1"/>
                </a:solidFill>
                <a:latin typeface="Exo 2 Medium"/>
                <a:ea typeface="Exo 2 Medium"/>
                <a:cs typeface="Exo 2 Medium"/>
                <a:sym typeface="Exo 2 Medium"/>
              </a:rPr>
              <a:t>Tailscale provides zero-config private networking with automatic HTTPS.</a:t>
            </a:r>
            <a:endParaRPr sz="1500">
              <a:solidFill>
                <a:schemeClr val="dk1"/>
              </a:solidFill>
              <a:latin typeface="Exo 2 Medium"/>
              <a:ea typeface="Exo 2 Medium"/>
              <a:cs typeface="Exo 2 Medium"/>
              <a:sym typeface="Exo 2 Medium"/>
            </a:endParaRPr>
          </a:p>
          <a:p>
            <a:pPr indent="-323850" lvl="0" marL="457200" rtl="0" algn="l">
              <a:lnSpc>
                <a:spcPct val="130000"/>
              </a:lnSpc>
              <a:spcBef>
                <a:spcPts val="0"/>
              </a:spcBef>
              <a:spcAft>
                <a:spcPts val="0"/>
              </a:spcAft>
              <a:buClr>
                <a:schemeClr val="dk1"/>
              </a:buClr>
              <a:buSzPts val="1500"/>
              <a:buFont typeface="Exo 2 Medium"/>
              <a:buChar char="-"/>
            </a:pPr>
            <a:r>
              <a:rPr lang="en" sz="1500">
                <a:solidFill>
                  <a:schemeClr val="dk1"/>
                </a:solidFill>
                <a:latin typeface="Exo 2 Medium"/>
                <a:ea typeface="Exo 2 Medium"/>
                <a:cs typeface="Exo 2 Medium"/>
                <a:sym typeface="Exo 2 Medium"/>
              </a:rPr>
              <a:t>OAuth clients give Tailscale containers permanent credentials; no 90-day rotation.</a:t>
            </a:r>
            <a:endParaRPr sz="1500">
              <a:solidFill>
                <a:schemeClr val="dk1"/>
              </a:solidFill>
              <a:latin typeface="Exo 2 Medium"/>
              <a:ea typeface="Exo 2 Medium"/>
              <a:cs typeface="Exo 2 Medium"/>
              <a:sym typeface="Exo 2 Medium"/>
            </a:endParaRPr>
          </a:p>
          <a:p>
            <a:pPr indent="0" lvl="0" marL="0" rtl="0" algn="l">
              <a:lnSpc>
                <a:spcPct val="130000"/>
              </a:lnSpc>
              <a:spcBef>
                <a:spcPts val="1200"/>
              </a:spcBef>
              <a:spcAft>
                <a:spcPts val="0"/>
              </a:spcAft>
              <a:buSzPts val="770"/>
              <a:buNone/>
            </a:pPr>
            <a:r>
              <a:rPr b="1" lang="en" sz="1765">
                <a:solidFill>
                  <a:schemeClr val="dk1"/>
                </a:solidFill>
                <a:latin typeface="Exo 2"/>
                <a:ea typeface="Exo 2"/>
                <a:cs typeface="Exo 2"/>
                <a:sym typeface="Exo 2"/>
              </a:rPr>
              <a:t>Resources</a:t>
            </a:r>
            <a:endParaRPr b="1" sz="1765">
              <a:solidFill>
                <a:schemeClr val="dk1"/>
              </a:solidFill>
              <a:latin typeface="Exo 2"/>
              <a:ea typeface="Exo 2"/>
              <a:cs typeface="Exo 2"/>
              <a:sym typeface="Exo 2"/>
            </a:endParaRPr>
          </a:p>
          <a:p>
            <a:pPr indent="-323850" lvl="0" marL="457200" rtl="0" algn="l">
              <a:lnSpc>
                <a:spcPct val="130000"/>
              </a:lnSpc>
              <a:spcBef>
                <a:spcPts val="1200"/>
              </a:spcBef>
              <a:spcAft>
                <a:spcPts val="0"/>
              </a:spcAft>
              <a:buClr>
                <a:schemeClr val="dk1"/>
              </a:buClr>
              <a:buSzPts val="1500"/>
              <a:buFont typeface="Exo 2 Medium"/>
              <a:buChar char="-"/>
            </a:pPr>
            <a:r>
              <a:rPr lang="en" sz="1500">
                <a:solidFill>
                  <a:schemeClr val="dk1"/>
                </a:solidFill>
                <a:latin typeface="Exo 2 Medium"/>
                <a:ea typeface="Exo 2 Medium"/>
                <a:cs typeface="Exo 2 Medium"/>
                <a:sym typeface="Exo 2 Medium"/>
              </a:rPr>
              <a:t>Official docs: </a:t>
            </a:r>
            <a:r>
              <a:rPr lang="en" sz="1500" u="sng">
                <a:solidFill>
                  <a:schemeClr val="hlink"/>
                </a:solidFill>
                <a:latin typeface="Exo 2 Medium"/>
                <a:ea typeface="Exo 2 Medium"/>
                <a:cs typeface="Exo 2 Medium"/>
                <a:sym typeface="Exo 2 Medium"/>
                <a:hlinkClick r:id="rId3"/>
              </a:rPr>
              <a:t>docs.docker.com</a:t>
            </a:r>
            <a:endParaRPr sz="1500">
              <a:solidFill>
                <a:schemeClr val="dk1"/>
              </a:solidFill>
              <a:latin typeface="Exo 2 Medium"/>
              <a:ea typeface="Exo 2 Medium"/>
              <a:cs typeface="Exo 2 Medium"/>
              <a:sym typeface="Exo 2 Medium"/>
            </a:endParaRPr>
          </a:p>
          <a:p>
            <a:pPr indent="-323850" lvl="0" marL="457200" rtl="0" algn="l">
              <a:lnSpc>
                <a:spcPct val="130000"/>
              </a:lnSpc>
              <a:spcBef>
                <a:spcPts val="0"/>
              </a:spcBef>
              <a:spcAft>
                <a:spcPts val="0"/>
              </a:spcAft>
              <a:buClr>
                <a:schemeClr val="dk1"/>
              </a:buClr>
              <a:buSzPts val="1500"/>
              <a:buFont typeface="Exo 2 Medium"/>
              <a:buChar char="-"/>
            </a:pPr>
            <a:r>
              <a:rPr lang="en" sz="1500">
                <a:solidFill>
                  <a:schemeClr val="dk1"/>
                </a:solidFill>
                <a:latin typeface="Exo 2 Medium"/>
                <a:ea typeface="Exo 2 Medium"/>
                <a:cs typeface="Exo 2 Medium"/>
                <a:sym typeface="Exo 2 Medium"/>
              </a:rPr>
              <a:t>CLI cheat sheet: </a:t>
            </a:r>
            <a:r>
              <a:rPr lang="en" sz="1500" u="sng">
                <a:solidFill>
                  <a:schemeClr val="hlink"/>
                </a:solidFill>
                <a:latin typeface="Exo 2 Medium"/>
                <a:ea typeface="Exo 2 Medium"/>
                <a:cs typeface="Exo 2 Medium"/>
                <a:sym typeface="Exo 2 Medium"/>
                <a:hlinkClick r:id="rId4"/>
              </a:rPr>
              <a:t>docs.docker.com/get-started/docker_cheatsheet.pdf</a:t>
            </a:r>
            <a:endParaRPr sz="1500">
              <a:solidFill>
                <a:schemeClr val="dk1"/>
              </a:solidFill>
              <a:latin typeface="Exo 2 Medium"/>
              <a:ea typeface="Exo 2 Medium"/>
              <a:cs typeface="Exo 2 Medium"/>
              <a:sym typeface="Exo 2 Medium"/>
            </a:endParaRPr>
          </a:p>
          <a:p>
            <a:pPr indent="-323850" lvl="0" marL="457200" rtl="0" algn="l">
              <a:lnSpc>
                <a:spcPct val="130000"/>
              </a:lnSpc>
              <a:spcBef>
                <a:spcPts val="0"/>
              </a:spcBef>
              <a:spcAft>
                <a:spcPts val="0"/>
              </a:spcAft>
              <a:buClr>
                <a:schemeClr val="dk1"/>
              </a:buClr>
              <a:buSzPts val="1500"/>
              <a:buFont typeface="Exo 2 Medium"/>
              <a:buChar char="-"/>
            </a:pPr>
            <a:r>
              <a:rPr lang="en" sz="1500">
                <a:solidFill>
                  <a:schemeClr val="dk1"/>
                </a:solidFill>
                <a:latin typeface="Exo 2 Medium"/>
                <a:ea typeface="Exo 2 Medium"/>
                <a:cs typeface="Exo 2 Medium"/>
                <a:sym typeface="Exo 2 Medium"/>
              </a:rPr>
              <a:t>Control docker with python: </a:t>
            </a:r>
            <a:r>
              <a:rPr lang="en" sz="1500" u="sng">
                <a:solidFill>
                  <a:schemeClr val="hlink"/>
                </a:solidFill>
                <a:latin typeface="Exo 2 Medium"/>
                <a:ea typeface="Exo 2 Medium"/>
                <a:cs typeface="Exo 2 Medium"/>
                <a:sym typeface="Exo 2 Medium"/>
                <a:hlinkClick r:id="rId5"/>
              </a:rPr>
              <a:t>gabrieldemarmiesse.github.io/python-on-whales/</a:t>
            </a:r>
            <a:endParaRPr sz="1500">
              <a:solidFill>
                <a:schemeClr val="dk1"/>
              </a:solidFill>
              <a:latin typeface="Exo 2 Medium"/>
              <a:ea typeface="Exo 2 Medium"/>
              <a:cs typeface="Exo 2 Medium"/>
              <a:sym typeface="Exo 2 Medium"/>
            </a:endParaRPr>
          </a:p>
          <a:p>
            <a:pPr indent="-323850" lvl="0" marL="457200" rtl="0" algn="l">
              <a:lnSpc>
                <a:spcPct val="130000"/>
              </a:lnSpc>
              <a:spcBef>
                <a:spcPts val="0"/>
              </a:spcBef>
              <a:spcAft>
                <a:spcPts val="0"/>
              </a:spcAft>
              <a:buClr>
                <a:schemeClr val="dk1"/>
              </a:buClr>
              <a:buSzPts val="1500"/>
              <a:buFont typeface="Exo 2 Medium"/>
              <a:buChar char="-"/>
            </a:pPr>
            <a:r>
              <a:rPr lang="en" sz="1500">
                <a:solidFill>
                  <a:schemeClr val="dk1"/>
                </a:solidFill>
                <a:latin typeface="Exo 2 Medium"/>
                <a:ea typeface="Exo 2 Medium"/>
                <a:cs typeface="Exo 2 Medium"/>
                <a:sym typeface="Exo 2 Medium"/>
              </a:rPr>
              <a:t>Shiny Express: shiny.posit.co/py/api/express/</a:t>
            </a:r>
            <a:endParaRPr sz="1500">
              <a:solidFill>
                <a:schemeClr val="dk1"/>
              </a:solidFill>
              <a:latin typeface="Exo 2 Medium"/>
              <a:ea typeface="Exo 2 Medium"/>
              <a:cs typeface="Exo 2 Medium"/>
              <a:sym typeface="Exo 2 Medium"/>
            </a:endParaRPr>
          </a:p>
          <a:p>
            <a:pPr indent="-323850" lvl="0" marL="457200" rtl="0" algn="l">
              <a:lnSpc>
                <a:spcPct val="130000"/>
              </a:lnSpc>
              <a:spcBef>
                <a:spcPts val="0"/>
              </a:spcBef>
              <a:spcAft>
                <a:spcPts val="0"/>
              </a:spcAft>
              <a:buClr>
                <a:schemeClr val="dk1"/>
              </a:buClr>
              <a:buSzPts val="1500"/>
              <a:buFont typeface="Exo 2 Medium"/>
              <a:buChar char="-"/>
            </a:pPr>
            <a:r>
              <a:rPr lang="en" sz="1500">
                <a:solidFill>
                  <a:schemeClr val="dk1"/>
                </a:solidFill>
                <a:latin typeface="Exo 2 Medium"/>
                <a:ea typeface="Exo 2 Medium"/>
                <a:cs typeface="Exo 2 Medium"/>
                <a:sym typeface="Exo 2 Medium"/>
              </a:rPr>
              <a:t>Tailscale Docker docs: tailscale.com/kb/1282/docker</a:t>
            </a:r>
            <a:endParaRPr sz="1500">
              <a:solidFill>
                <a:schemeClr val="dk1"/>
              </a:solidFill>
              <a:latin typeface="Exo 2 Medium"/>
              <a:ea typeface="Exo 2 Medium"/>
              <a:cs typeface="Exo 2 Medium"/>
              <a:sym typeface="Exo 2 Medium"/>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